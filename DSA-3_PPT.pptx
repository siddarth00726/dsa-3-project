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4" r:id="rId3"/>
    <p:sldId id="258" r:id="rId4"/>
    <p:sldId id="261" r:id="rId5"/>
    <p:sldId id="265" r:id="rId6"/>
    <p:sldId id="269" r:id="rId7"/>
    <p:sldId id="266" r:id="rId8"/>
    <p:sldId id="267" r:id="rId9"/>
    <p:sldId id="260" r:id="rId10"/>
    <p:sldId id="262"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8" d="100"/>
          <a:sy n="98" d="100"/>
        </p:scale>
        <p:origin x="110" y="6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  Data Structures and Algorithms -3 (25CS2103E)</a:t>
            </a:r>
            <a:br>
              <a:rPr lang="en-US" sz="4000" b="1" dirty="0">
                <a:solidFill>
                  <a:srgbClr val="C00000"/>
                </a:solidFill>
                <a:latin typeface="+mn-lt"/>
              </a:rPr>
            </a:br>
            <a:br>
              <a:rPr lang="en-US" sz="4000" b="1" dirty="0">
                <a:solidFill>
                  <a:srgbClr val="C00000"/>
                </a:solidFill>
                <a:latin typeface="+mn-lt"/>
              </a:rPr>
            </a:br>
            <a:r>
              <a:rPr lang="en-IN" sz="4000" b="1" dirty="0"/>
              <a:t>Public-Transit Planner</a:t>
            </a:r>
            <a:endParaRPr lang="en-US" sz="4000" b="1" dirty="0">
              <a:solidFill>
                <a:srgbClr val="C00000"/>
              </a:solidFill>
              <a:latin typeface="+mn-lt"/>
            </a:endParaRPr>
          </a:p>
        </p:txBody>
      </p:sp>
      <p:sp>
        <p:nvSpPr>
          <p:cNvPr id="3" name="Subtitle 2"/>
          <p:cNvSpPr>
            <a:spLocks noGrp="1"/>
          </p:cNvSpPr>
          <p:nvPr>
            <p:ph type="subTitle" idx="1"/>
          </p:nvPr>
        </p:nvSpPr>
        <p:spPr>
          <a:xfrm>
            <a:off x="3048001" y="3243385"/>
            <a:ext cx="5773444" cy="1666153"/>
          </a:xfrm>
        </p:spPr>
        <p:txBody>
          <a:bodyPr/>
          <a:lstStyle/>
          <a:p>
            <a:r>
              <a:rPr lang="en-IN" sz="1800" dirty="0"/>
              <a:t>                 T Venkata Siddarth (2520090187</a:t>
            </a:r>
          </a:p>
          <a:p>
            <a:r>
              <a:rPr lang="en-IN" sz="1800" dirty="0"/>
              <a:t>D Sanjay (2520090133)</a:t>
            </a:r>
          </a:p>
          <a:p>
            <a:r>
              <a:rPr lang="en-IN" sz="1800" dirty="0"/>
              <a:t>                   R Hema Manikanta (2520090228) </a:t>
            </a:r>
          </a:p>
          <a:p>
            <a:endParaRPr lang="en-US" dirty="0">
              <a:solidFill>
                <a:srgbClr val="0070C0"/>
              </a:solidFill>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       Under the Esteemed Guidance of</a:t>
            </a:r>
            <a:endParaRPr lang="en-IN" sz="1800" kern="100" dirty="0">
              <a:solidFill>
                <a:srgbClr val="000000"/>
              </a:solidFill>
              <a:latin typeface="Calibri" panose="020F0502020204030204" pitchFamily="34" charset="0"/>
              <a:ea typeface="Calibri" panose="020F0502020204030204" pitchFamily="34" charset="0"/>
              <a:cs typeface="Gautami" panose="020B0502040204020203" pitchFamily="34" charset="0"/>
            </a:endParaRPr>
          </a:p>
          <a:p>
            <a:pPr marL="171450" algn="ctr">
              <a:lnSpc>
                <a:spcPct val="107000"/>
              </a:lnSpc>
              <a:spcAft>
                <a:spcPts val="800"/>
              </a:spcAft>
            </a:pPr>
            <a:r>
              <a:rPr lang="en-IN" dirty="0"/>
              <a:t> Dr. Dyuti Banerjee</a:t>
            </a:r>
          </a:p>
          <a:p>
            <a:r>
              <a:rPr lang="en-IN" dirty="0"/>
              <a:t>    Asst. Prof, AI&amp;DS</a:t>
            </a:r>
          </a:p>
          <a:p>
            <a:pPr algn="ctr">
              <a:lnSpc>
                <a:spcPct val="107000"/>
              </a:lnSpc>
              <a:spcAft>
                <a:spcPts val="800"/>
              </a:spcAft>
            </a:pP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6" name="TextBox 5">
            <a:extLst>
              <a:ext uri="{FF2B5EF4-FFF2-40B4-BE49-F238E27FC236}">
                <a16:creationId xmlns:a16="http://schemas.microsoft.com/office/drawing/2014/main" id="{EDFC99B1-B684-5E8B-E1C5-37A1BA3522E8}"/>
              </a:ext>
            </a:extLst>
          </p:cNvPr>
          <p:cNvSpPr txBox="1"/>
          <p:nvPr/>
        </p:nvSpPr>
        <p:spPr>
          <a:xfrm>
            <a:off x="2930768" y="1180123"/>
            <a:ext cx="11285183" cy="5133505"/>
          </a:xfrm>
          <a:prstGeom prst="rect">
            <a:avLst/>
          </a:prstGeom>
          <a:noFill/>
        </p:spPr>
        <p:txBody>
          <a:bodyPr wrap="square" rtlCol="0">
            <a:spAutoFit/>
          </a:bodyPr>
          <a:lstStyle/>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Purpose:</a:t>
            </a:r>
            <a:r>
              <a:rPr lang="en-IN" sz="1600" dirty="0">
                <a:latin typeface="Times New Roman" panose="02020603050405020304" pitchFamily="18" charset="0"/>
                <a:cs typeface="Times New Roman" panose="02020603050405020304" pitchFamily="18" charset="0"/>
              </a:rPr>
              <a:t> Develop a data-structures-based system for planning efficient public transport routes </a:t>
            </a:r>
          </a:p>
          <a:p>
            <a:pPr lvl="0"/>
            <a:r>
              <a:rPr lang="en-IN" sz="1600" dirty="0">
                <a:latin typeface="Times New Roman" panose="02020603050405020304" pitchFamily="18" charset="0"/>
                <a:cs typeface="Times New Roman" panose="02020603050405020304" pitchFamily="18" charset="0"/>
              </a:rPr>
              <a:t>                     and timetables.</a:t>
            </a:r>
          </a:p>
          <a:p>
            <a:pPr lvl="0"/>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Data Processing:</a:t>
            </a:r>
            <a:r>
              <a:rPr lang="en-IN" sz="1600" dirty="0">
                <a:latin typeface="Times New Roman" panose="02020603050405020304" pitchFamily="18" charset="0"/>
                <a:cs typeface="Times New Roman" panose="02020603050405020304" pitchFamily="18" charset="0"/>
              </a:rPr>
              <a:t> Cleans and organizes stop, route, and passenger-demand data.</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Important Stops:</a:t>
            </a:r>
            <a:r>
              <a:rPr lang="en-IN" sz="1600" dirty="0">
                <a:latin typeface="Times New Roman" panose="02020603050405020304" pitchFamily="18" charset="0"/>
                <a:cs typeface="Times New Roman" panose="02020603050405020304" pitchFamily="18" charset="0"/>
              </a:rPr>
              <a:t> Identifies major stops and high-demand connections.</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Route Planning:</a:t>
            </a:r>
            <a:r>
              <a:rPr lang="en-IN" sz="1600" dirty="0">
                <a:latin typeface="Times New Roman" panose="02020603050405020304" pitchFamily="18" charset="0"/>
                <a:cs typeface="Times New Roman" panose="02020603050405020304" pitchFamily="18" charset="0"/>
              </a:rPr>
              <a:t> Constructs feasible transport routes based on passenger demand and available resources.</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Frequency Assignment:</a:t>
            </a:r>
            <a:r>
              <a:rPr lang="en-IN" sz="1600" dirty="0">
                <a:latin typeface="Times New Roman" panose="02020603050405020304" pitchFamily="18" charset="0"/>
                <a:cs typeface="Times New Roman" panose="02020603050405020304" pitchFamily="18" charset="0"/>
              </a:rPr>
              <a:t> Assigns suitable service frequencies and departure times.</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Fleet Management:</a:t>
            </a:r>
            <a:r>
              <a:rPr lang="en-IN" sz="1600" dirty="0">
                <a:latin typeface="Times New Roman" panose="02020603050405020304" pitchFamily="18" charset="0"/>
                <a:cs typeface="Times New Roman" panose="02020603050405020304" pitchFamily="18" charset="0"/>
              </a:rPr>
              <a:t> Plans routes while considering the available number of buses and fleet capacity.</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Budget Management:</a:t>
            </a:r>
            <a:r>
              <a:rPr lang="en-IN" sz="1600" dirty="0">
                <a:latin typeface="Times New Roman" panose="02020603050405020304" pitchFamily="18" charset="0"/>
                <a:cs typeface="Times New Roman" panose="02020603050405020304" pitchFamily="18" charset="0"/>
              </a:rPr>
              <a:t> Keeps the transport plan within the fixed operating budget.</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Performance Measures:</a:t>
            </a:r>
            <a:r>
              <a:rPr lang="en-IN" sz="1600" dirty="0">
                <a:latin typeface="Times New Roman" panose="02020603050405020304" pitchFamily="18" charset="0"/>
                <a:cs typeface="Times New Roman" panose="02020603050405020304" pitchFamily="18" charset="0"/>
              </a:rPr>
              <a:t> Calculates demand coverage, average passenger travel time, and total  </a:t>
            </a:r>
          </a:p>
          <a:p>
            <a:pPr lvl="0"/>
            <a:r>
              <a:rPr lang="en-IN" sz="1600" dirty="0">
                <a:latin typeface="Times New Roman" panose="02020603050405020304" pitchFamily="18" charset="0"/>
                <a:cs typeface="Times New Roman" panose="02020603050405020304" pitchFamily="18" charset="0"/>
              </a:rPr>
              <a:t>                                               operating cost.</a:t>
            </a:r>
          </a:p>
          <a:p>
            <a:pPr lvl="0"/>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Objective:</a:t>
            </a:r>
            <a:r>
              <a:rPr lang="en-IN" sz="1600" dirty="0">
                <a:latin typeface="Times New Roman" panose="02020603050405020304" pitchFamily="18" charset="0"/>
                <a:cs typeface="Times New Roman" panose="02020603050405020304" pitchFamily="18" charset="0"/>
              </a:rPr>
              <a:t> Provides an efficient and practical transport plan while satisfying real-world constraints.</a:t>
            </a:r>
          </a:p>
          <a:p>
            <a:endParaRPr lang="en-IN" dirty="0"/>
          </a:p>
        </p:txBody>
      </p:sp>
    </p:spTree>
    <p:extLst>
      <p:ext uri="{BB962C8B-B14F-4D97-AF65-F5344CB8AC3E}">
        <p14:creationId xmlns:p14="http://schemas.microsoft.com/office/powerpoint/2010/main" val="1672422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a:extLst>
              <a:ext uri="{FF2B5EF4-FFF2-40B4-BE49-F238E27FC236}">
                <a16:creationId xmlns:a16="http://schemas.microsoft.com/office/drawing/2014/main" id="{804DD668-C25D-28A5-8BB2-305CA93656CA}"/>
              </a:ext>
            </a:extLst>
          </p:cNvPr>
          <p:cNvSpPr txBox="1"/>
          <p:nvPr/>
        </p:nvSpPr>
        <p:spPr>
          <a:xfrm>
            <a:off x="3055815" y="1109785"/>
            <a:ext cx="9018954" cy="4770537"/>
          </a:xfrm>
          <a:prstGeom prst="rect">
            <a:avLst/>
          </a:prstGeom>
          <a:noFill/>
        </p:spPr>
        <p:txBody>
          <a:bodyPr wrap="square" rtlCol="0">
            <a:spAutoFit/>
          </a:bodyPr>
          <a:lstStyle/>
          <a:p>
            <a:pPr marL="342900" lvl="0" indent="-34290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Transportation Challenge:</a:t>
            </a:r>
            <a:r>
              <a:rPr lang="en-IN" sz="1600" dirty="0">
                <a:latin typeface="Times New Roman" panose="02020603050405020304" pitchFamily="18" charset="0"/>
                <a:cs typeface="Times New Roman" panose="02020603050405020304" pitchFamily="18" charset="0"/>
              </a:rPr>
              <a:t> Public transport agencies need to serve many passenger demand points with limited buses, drivers, time, and budget.</a:t>
            </a:r>
          </a:p>
          <a:p>
            <a:pPr lvl="0" algn="just"/>
            <a:endParaRPr lang="en-IN" sz="16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Problems with Traditional Planning:</a:t>
            </a:r>
            <a:r>
              <a:rPr lang="en-IN" sz="1600" dirty="0">
                <a:latin typeface="Times New Roman" panose="02020603050405020304" pitchFamily="18" charset="0"/>
                <a:cs typeface="Times New Roman" panose="02020603050405020304" pitchFamily="18" charset="0"/>
              </a:rPr>
              <a:t> Manual planning and static schedules may      result in low passenger coverage, high operating costs, longer travel times, and poor vehicle utilization.</a:t>
            </a:r>
          </a:p>
          <a:p>
            <a:pPr lvl="0" algn="just"/>
            <a:endParaRPr lang="en-IN" sz="16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Demand Variation:</a:t>
            </a:r>
            <a:r>
              <a:rPr lang="en-IN" sz="1600" dirty="0">
                <a:latin typeface="Times New Roman" panose="02020603050405020304" pitchFamily="18" charset="0"/>
                <a:cs typeface="Times New Roman" panose="02020603050405020304" pitchFamily="18" charset="0"/>
              </a:rPr>
              <a:t> Passenger demand changes between different stops, making efficient route planning more difficult.</a:t>
            </a:r>
          </a:p>
          <a:p>
            <a:pPr marL="342900" lvl="0" indent="-342900" algn="just">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Graph Representation:</a:t>
            </a:r>
            <a:r>
              <a:rPr lang="en-IN" sz="1600" dirty="0">
                <a:latin typeface="Times New Roman" panose="02020603050405020304" pitchFamily="18" charset="0"/>
                <a:cs typeface="Times New Roman" panose="02020603050405020304" pitchFamily="18" charset="0"/>
              </a:rPr>
              <a:t> The transport network is represented as a </a:t>
            </a:r>
            <a:r>
              <a:rPr lang="en-IN" sz="1600" b="1" dirty="0">
                <a:latin typeface="Times New Roman" panose="02020603050405020304" pitchFamily="18" charset="0"/>
                <a:cs typeface="Times New Roman" panose="02020603050405020304" pitchFamily="18" charset="0"/>
              </a:rPr>
              <a:t>graph</a:t>
            </a:r>
            <a:r>
              <a:rPr lang="en-IN" sz="1600" dirty="0">
                <a:latin typeface="Times New Roman" panose="02020603050405020304" pitchFamily="18" charset="0"/>
                <a:cs typeface="Times New Roman" panose="02020603050405020304" pitchFamily="18" charset="0"/>
              </a:rPr>
              <a:t>, where stops are vertices and travel connections  are edges.</a:t>
            </a:r>
          </a:p>
          <a:p>
            <a:pPr lvl="0" algn="just"/>
            <a:endParaRPr lang="en-IN" sz="16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Travel Information:</a:t>
            </a:r>
            <a:r>
              <a:rPr lang="en-IN" sz="1600" dirty="0">
                <a:latin typeface="Times New Roman" panose="02020603050405020304" pitchFamily="18" charset="0"/>
                <a:cs typeface="Times New Roman" panose="02020603050405020304" pitchFamily="18" charset="0"/>
              </a:rPr>
              <a:t> Edges contain information such as </a:t>
            </a:r>
            <a:r>
              <a:rPr lang="en-IN" sz="1600" b="1" dirty="0">
                <a:latin typeface="Times New Roman" panose="02020603050405020304" pitchFamily="18" charset="0"/>
                <a:cs typeface="Times New Roman" panose="02020603050405020304" pitchFamily="18" charset="0"/>
              </a:rPr>
              <a:t>distance and travel time</a:t>
            </a:r>
            <a:r>
              <a:rPr lang="en-IN" sz="1600" dirty="0">
                <a:latin typeface="Times New Roman" panose="02020603050405020304" pitchFamily="18" charset="0"/>
                <a:cs typeface="Times New Roman" panose="02020603050405020304" pitchFamily="18" charset="0"/>
              </a:rPr>
              <a:t> between stops.</a:t>
            </a:r>
          </a:p>
          <a:p>
            <a:pPr marL="342900" lvl="0" indent="-342900" algn="just">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Data Preparation:</a:t>
            </a:r>
            <a:r>
              <a:rPr lang="en-IN" sz="1600" dirty="0">
                <a:latin typeface="Times New Roman" panose="02020603050405020304" pitchFamily="18" charset="0"/>
                <a:cs typeface="Times New Roman" panose="02020603050405020304" pitchFamily="18" charset="0"/>
              </a:rPr>
              <a:t> Stop, route, and passenger-demand data are cleaned and organized before planning.</a:t>
            </a:r>
          </a:p>
          <a:p>
            <a:pPr marL="342900" lvl="0" indent="-342900" algn="just">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Priority Identification:</a:t>
            </a:r>
            <a:r>
              <a:rPr lang="en-IN" sz="1600" dirty="0">
                <a:latin typeface="Times New Roman" panose="02020603050405020304" pitchFamily="18" charset="0"/>
                <a:cs typeface="Times New Roman" panose="02020603050405020304" pitchFamily="18" charset="0"/>
              </a:rPr>
              <a:t> High-demand stops and important connections are identified and given higher priority.</a:t>
            </a:r>
          </a:p>
          <a:p>
            <a:endParaRPr lang="en-IN"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4" name="TextBox 3">
            <a:extLst>
              <a:ext uri="{FF2B5EF4-FFF2-40B4-BE49-F238E27FC236}">
                <a16:creationId xmlns:a16="http://schemas.microsoft.com/office/drawing/2014/main" id="{76B26FBC-9585-05EF-054D-A4445CBFA1F5}"/>
              </a:ext>
            </a:extLst>
          </p:cNvPr>
          <p:cNvSpPr txBox="1"/>
          <p:nvPr/>
        </p:nvSpPr>
        <p:spPr>
          <a:xfrm>
            <a:off x="3024554" y="1180123"/>
            <a:ext cx="9104923" cy="4555093"/>
          </a:xfrm>
          <a:prstGeom prst="rect">
            <a:avLst/>
          </a:prstGeom>
          <a:noFill/>
        </p:spPr>
        <p:txBody>
          <a:bodyPr wrap="square" rtlCol="0">
            <a:spAutoFit/>
          </a:bodyPr>
          <a:lstStyle/>
          <a:p>
            <a:pPr marL="285750" lvl="0" indent="-285750">
              <a:buFont typeface="Arial" panose="020B0604020202020204" pitchFamily="34" charset="0"/>
              <a:buChar char="•"/>
            </a:pPr>
            <a:r>
              <a:rPr lang="en-IN" sz="1600" b="1" dirty="0" err="1">
                <a:latin typeface="Times New Roman" panose="02020603050405020304" pitchFamily="18" charset="0"/>
                <a:cs typeface="Times New Roman" panose="02020603050405020304" pitchFamily="18" charset="0"/>
              </a:rPr>
              <a:t>Guihaireand</a:t>
            </a:r>
            <a:r>
              <a:rPr lang="en-IN" sz="1600" b="1" dirty="0">
                <a:latin typeface="Times New Roman" panose="02020603050405020304" pitchFamily="18" charset="0"/>
                <a:cs typeface="Times New Roman" panose="02020603050405020304" pitchFamily="18" charset="0"/>
              </a:rPr>
              <a:t> Hao (2008)</a:t>
            </a:r>
            <a:r>
              <a:rPr lang="en-IN" sz="1600" dirty="0">
                <a:latin typeface="Times New Roman" panose="02020603050405020304" pitchFamily="18" charset="0"/>
                <a:cs typeface="Times New Roman" panose="02020603050405020304" pitchFamily="18" charset="0"/>
              </a:rPr>
              <a:t> reviewed transit network design and scheduling approaches. Their study covered route design, frequency setting, timetabling, and combinations of these planning stages. The research highlighted that network structure directly affects service coverage, passenger convenience, and operating costs.  </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err="1">
                <a:latin typeface="Times New Roman" panose="02020603050405020304" pitchFamily="18" charset="0"/>
                <a:cs typeface="Times New Roman" panose="02020603050405020304" pitchFamily="18" charset="0"/>
              </a:rPr>
              <a:t>Schöbel</a:t>
            </a:r>
            <a:r>
              <a:rPr lang="en-IN" sz="1600" b="1" dirty="0">
                <a:latin typeface="Times New Roman" panose="02020603050405020304" pitchFamily="18" charset="0"/>
                <a:cs typeface="Times New Roman" panose="02020603050405020304" pitchFamily="18" charset="0"/>
              </a:rPr>
              <a:t> (2012)</a:t>
            </a:r>
            <a:r>
              <a:rPr lang="en-IN" sz="1600" dirty="0">
                <a:latin typeface="Times New Roman" panose="02020603050405020304" pitchFamily="18" charset="0"/>
                <a:cs typeface="Times New Roman" panose="02020603050405020304" pitchFamily="18" charset="0"/>
              </a:rPr>
              <a:t> studied line planning in public transportation and reviewed different mathematical models and algorithms for selecting suitable transit lines. The work emphasized the importance of designing routes that satisfy passenger demand while considering operational requirements. </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López-Ramos (2014)</a:t>
            </a:r>
            <a:r>
              <a:rPr lang="en-IN" sz="1600" dirty="0">
                <a:latin typeface="Times New Roman" panose="02020603050405020304" pitchFamily="18" charset="0"/>
                <a:cs typeface="Times New Roman" panose="02020603050405020304" pitchFamily="18" charset="0"/>
              </a:rPr>
              <a:t> surveyed approaches that integrate </a:t>
            </a:r>
            <a:r>
              <a:rPr lang="en-IN" sz="1600" b="1" dirty="0">
                <a:latin typeface="Times New Roman" panose="02020603050405020304" pitchFamily="18" charset="0"/>
                <a:cs typeface="Times New Roman" panose="02020603050405020304" pitchFamily="18" charset="0"/>
              </a:rPr>
              <a:t>network design and frequency setting</a:t>
            </a:r>
            <a:r>
              <a:rPr lang="en-IN" sz="1600" dirty="0">
                <a:latin typeface="Times New Roman" panose="02020603050405020304" pitchFamily="18" charset="0"/>
                <a:cs typeface="Times New Roman" panose="02020603050405020304" pitchFamily="18" charset="0"/>
              </a:rPr>
              <a:t>. The study found that these two decisions strongly influence passenger service quality and operator costs. It also discussed constraints such as demand satisfaction and available resources. </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Durán-Micco and </a:t>
            </a:r>
            <a:r>
              <a:rPr lang="en-IN" sz="1600" b="1" dirty="0" err="1">
                <a:latin typeface="Times New Roman" panose="02020603050405020304" pitchFamily="18" charset="0"/>
                <a:cs typeface="Times New Roman" panose="02020603050405020304" pitchFamily="18" charset="0"/>
              </a:rPr>
              <a:t>Vansteenwegen</a:t>
            </a:r>
            <a:r>
              <a:rPr lang="en-IN" sz="1600" b="1" dirty="0">
                <a:latin typeface="Times New Roman" panose="02020603050405020304" pitchFamily="18" charset="0"/>
                <a:cs typeface="Times New Roman" panose="02020603050405020304" pitchFamily="18" charset="0"/>
              </a:rPr>
              <a:t> (2022)</a:t>
            </a:r>
            <a:r>
              <a:rPr lang="en-IN" sz="1600" dirty="0">
                <a:latin typeface="Times New Roman" panose="02020603050405020304" pitchFamily="18" charset="0"/>
                <a:cs typeface="Times New Roman" panose="02020603050405020304" pitchFamily="18" charset="0"/>
              </a:rPr>
              <a:t> provided an extensive survey of the Transit Network Design Problem (TNDP) and Transit Network Design and Frequency Setting Problem (TNDFSP). They examined objectives, constraints, solution methods, and passenger-assignment techniques, while noting the gap between theoretical models and practical implementation.</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a:extLst>
              <a:ext uri="{FF2B5EF4-FFF2-40B4-BE49-F238E27FC236}">
                <a16:creationId xmlns:a16="http://schemas.microsoft.com/office/drawing/2014/main" id="{96035D3B-4FF0-3D73-A1A3-EE19F258FBD8}"/>
              </a:ext>
            </a:extLst>
          </p:cNvPr>
          <p:cNvSpPr txBox="1"/>
          <p:nvPr/>
        </p:nvSpPr>
        <p:spPr>
          <a:xfrm>
            <a:off x="2946400" y="1320800"/>
            <a:ext cx="9183077" cy="3816429"/>
          </a:xfrm>
          <a:prstGeom prst="rect">
            <a:avLst/>
          </a:prstGeom>
          <a:noFill/>
        </p:spPr>
        <p:txBody>
          <a:bodyPr wrap="square" rtlCol="0">
            <a:spAutoFit/>
          </a:bodyPr>
          <a:lstStyle/>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Public transportation agencies must serve </a:t>
            </a:r>
            <a:r>
              <a:rPr lang="en-IN" sz="1600" b="1" dirty="0">
                <a:latin typeface="Times New Roman" panose="02020603050405020304" pitchFamily="18" charset="0"/>
                <a:cs typeface="Times New Roman" panose="02020603050405020304" pitchFamily="18" charset="0"/>
              </a:rPr>
              <a:t>high passenger demand</a:t>
            </a:r>
            <a:r>
              <a:rPr lang="en-IN" sz="1600" dirty="0">
                <a:latin typeface="Times New Roman" panose="02020603050405020304" pitchFamily="18" charset="0"/>
                <a:cs typeface="Times New Roman" panose="02020603050405020304" pitchFamily="18" charset="0"/>
              </a:rPr>
              <a:t> using limited buses, drivers, time, and budget.</a:t>
            </a:r>
          </a:p>
          <a:p>
            <a:pPr lvl="0"/>
            <a:r>
              <a:rPr lang="en-IN" sz="1600"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Traditional manual planning and static schedules may cause </a:t>
            </a:r>
            <a:r>
              <a:rPr lang="en-IN" sz="1600" b="1" dirty="0">
                <a:latin typeface="Times New Roman" panose="02020603050405020304" pitchFamily="18" charset="0"/>
                <a:cs typeface="Times New Roman" panose="02020603050405020304" pitchFamily="18" charset="0"/>
              </a:rPr>
              <a:t>low demand coverage, long travel times, high operating costs, and poor fleet utilization</a:t>
            </a:r>
            <a:r>
              <a:rPr lang="en-IN" sz="1600" dirty="0">
                <a:latin typeface="Times New Roman" panose="02020603050405020304" pitchFamily="18" charset="0"/>
                <a:cs typeface="Times New Roman" panose="02020603050405020304" pitchFamily="18" charset="0"/>
              </a:rPr>
              <a:t>. </a:t>
            </a:r>
          </a:p>
          <a:p>
            <a:pPr lvl="0"/>
            <a:r>
              <a:rPr lang="en-IN" sz="1600"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Passenger demand can vary between different stops, making it difficult to select the most suitable routes and service frequencies.</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Represent the transport network</a:t>
            </a:r>
            <a:r>
              <a:rPr lang="en-IN" sz="1600" dirty="0">
                <a:latin typeface="Times New Roman" panose="02020603050405020304" pitchFamily="18" charset="0"/>
                <a:cs typeface="Times New Roman" panose="02020603050405020304" pitchFamily="18" charset="0"/>
              </a:rPr>
              <a:t> using graphs, with stops as vertices and connections as edges. </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Clean and organize</a:t>
            </a:r>
            <a:r>
              <a:rPr lang="en-IN" sz="1600" dirty="0">
                <a:latin typeface="Times New Roman" panose="02020603050405020304" pitchFamily="18" charset="0"/>
                <a:cs typeface="Times New Roman" panose="02020603050405020304" pitchFamily="18" charset="0"/>
              </a:rPr>
              <a:t> stop, route, travel-time, and passenger-demand data. </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Identify high-demand stops</a:t>
            </a:r>
            <a:r>
              <a:rPr lang="en-IN" sz="1600" dirty="0">
                <a:latin typeface="Times New Roman" panose="02020603050405020304" pitchFamily="18" charset="0"/>
                <a:cs typeface="Times New Roman" panose="02020603050405020304" pitchFamily="18" charset="0"/>
              </a:rPr>
              <a:t> and important transport connections.</a:t>
            </a:r>
          </a:p>
          <a:p>
            <a:endParaRPr lang="en-IN" dirty="0"/>
          </a:p>
        </p:txBody>
      </p:sp>
    </p:spTree>
    <p:extLst>
      <p:ext uri="{BB962C8B-B14F-4D97-AF65-F5344CB8AC3E}">
        <p14:creationId xmlns:p14="http://schemas.microsoft.com/office/powerpoint/2010/main" val="3441026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84CAE-D65C-436C-9167-F5201FE44F7C}"/>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B5BB90A-0B23-6B0B-0CD7-579924F1AD60}"/>
              </a:ext>
            </a:extLst>
          </p:cNvPr>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F8FD8FE-2FB3-7629-868A-CE5EFA4EE5BD}"/>
              </a:ext>
            </a:extLst>
          </p:cNvPr>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7" name="Picture 6">
            <a:extLst>
              <a:ext uri="{FF2B5EF4-FFF2-40B4-BE49-F238E27FC236}">
                <a16:creationId xmlns:a16="http://schemas.microsoft.com/office/drawing/2014/main" id="{44935314-A362-BF6F-2AF4-6C668EF4B0F0}"/>
              </a:ext>
            </a:extLst>
          </p:cNvPr>
          <p:cNvPicPr>
            <a:picLocks noChangeAspect="1"/>
          </p:cNvPicPr>
          <p:nvPr/>
        </p:nvPicPr>
        <p:blipFill>
          <a:blip r:embed="rId2"/>
          <a:stretch>
            <a:fillRect/>
          </a:stretch>
        </p:blipFill>
        <p:spPr>
          <a:xfrm>
            <a:off x="2836985" y="985966"/>
            <a:ext cx="6361723" cy="5180372"/>
          </a:xfrm>
          <a:prstGeom prst="rect">
            <a:avLst/>
          </a:prstGeom>
        </p:spPr>
      </p:pic>
    </p:spTree>
    <p:extLst>
      <p:ext uri="{BB962C8B-B14F-4D97-AF65-F5344CB8AC3E}">
        <p14:creationId xmlns:p14="http://schemas.microsoft.com/office/powerpoint/2010/main" val="607524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Box 3">
            <a:extLst>
              <a:ext uri="{FF2B5EF4-FFF2-40B4-BE49-F238E27FC236}">
                <a16:creationId xmlns:a16="http://schemas.microsoft.com/office/drawing/2014/main" id="{840A8016-7FA7-05B0-1AFE-F69644B58CB2}"/>
              </a:ext>
            </a:extLst>
          </p:cNvPr>
          <p:cNvSpPr txBox="1"/>
          <p:nvPr/>
        </p:nvSpPr>
        <p:spPr>
          <a:xfrm>
            <a:off x="3196493" y="1031631"/>
            <a:ext cx="7190230" cy="5539978"/>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Software Requirements:</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Operating </a:t>
            </a:r>
            <a:r>
              <a:rPr lang="en-IN" sz="1600" dirty="0" err="1">
                <a:latin typeface="Times New Roman" panose="02020603050405020304" pitchFamily="18" charset="0"/>
                <a:cs typeface="Times New Roman" panose="02020603050405020304" pitchFamily="18" charset="0"/>
              </a:rPr>
              <a:t>System:Windows</a:t>
            </a:r>
            <a:r>
              <a:rPr lang="en-IN" sz="1600" dirty="0">
                <a:latin typeface="Times New Roman" panose="02020603050405020304" pitchFamily="18" charset="0"/>
                <a:cs typeface="Times New Roman" panose="02020603050405020304" pitchFamily="18" charset="0"/>
              </a:rPr>
              <a:t> 10/11, Linux, or macOS</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Programming Language: Java</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IDE: Visual Studio Code / IntelliJ IDEA / Eclipse</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Java Development Kit (JDK): JDK 17 or later</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Data Storage: CSV/text files for stop and passenger-demand data</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Libraries: Java standard libraries such as Collections, I/O, and utility packages</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Hardware Requirements:</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Processor: Intel Core i3 or equivalent and above</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RAM: Minimum 4 GB (8 GB recommended)</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Storage: Minimum 500 MB free space for the project and datasets</a:t>
            </a:r>
            <a:endParaRPr lang="en-IN" sz="1600" dirty="0"/>
          </a:p>
          <a:p>
            <a:endParaRPr lang="en-IN" dirty="0"/>
          </a:p>
        </p:txBody>
      </p:sp>
    </p:spTree>
    <p:extLst>
      <p:ext uri="{BB962C8B-B14F-4D97-AF65-F5344CB8AC3E}">
        <p14:creationId xmlns:p14="http://schemas.microsoft.com/office/powerpoint/2010/main" val="2292750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Box 3">
            <a:extLst>
              <a:ext uri="{FF2B5EF4-FFF2-40B4-BE49-F238E27FC236}">
                <a16:creationId xmlns:a16="http://schemas.microsoft.com/office/drawing/2014/main" id="{CE9BE5C7-9F98-D995-3AA7-4ADBD9277542}"/>
              </a:ext>
            </a:extLst>
          </p:cNvPr>
          <p:cNvSpPr txBox="1"/>
          <p:nvPr/>
        </p:nvSpPr>
        <p:spPr>
          <a:xfrm>
            <a:off x="3071446" y="1117600"/>
            <a:ext cx="8605848" cy="3077766"/>
          </a:xfrm>
          <a:prstGeom prst="rect">
            <a:avLst/>
          </a:prstGeom>
          <a:noFill/>
        </p:spPr>
        <p:txBody>
          <a:bodyPr wrap="square" rtlCol="0">
            <a:spAutoFit/>
          </a:bodyPr>
          <a:lstStyle/>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Successfully represented the public transport network using </a:t>
            </a:r>
            <a:r>
              <a:rPr lang="en-IN" sz="1600" b="1" dirty="0">
                <a:latin typeface="Times New Roman" panose="02020603050405020304" pitchFamily="18" charset="0"/>
                <a:cs typeface="Times New Roman" panose="02020603050405020304" pitchFamily="18" charset="0"/>
              </a:rPr>
              <a:t>graphs</a:t>
            </a:r>
            <a:r>
              <a:rPr lang="en-IN" sz="1600" dirty="0">
                <a:latin typeface="Times New Roman" panose="02020603050405020304" pitchFamily="18" charset="0"/>
                <a:cs typeface="Times New Roman" panose="02020603050405020304" pitchFamily="18" charset="0"/>
              </a:rPr>
              <a:t>. </a:t>
            </a:r>
          </a:p>
          <a:p>
            <a:pPr lvl="0"/>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Identified </a:t>
            </a:r>
            <a:r>
              <a:rPr lang="en-IN" sz="1600" b="1" dirty="0">
                <a:latin typeface="Times New Roman" panose="02020603050405020304" pitchFamily="18" charset="0"/>
                <a:cs typeface="Times New Roman" panose="02020603050405020304" pitchFamily="18" charset="0"/>
              </a:rPr>
              <a:t>high-demand stops and important connections</a:t>
            </a:r>
            <a:r>
              <a:rPr lang="en-IN" sz="1600" dirty="0">
                <a:latin typeface="Times New Roman" panose="02020603050405020304" pitchFamily="18" charset="0"/>
                <a:cs typeface="Times New Roman" panose="02020603050405020304" pitchFamily="18" charset="0"/>
              </a:rPr>
              <a:t> from passenger-demand data.</a:t>
            </a:r>
          </a:p>
          <a:p>
            <a:pPr lvl="0"/>
            <a:r>
              <a:rPr lang="en-IN" sz="1600"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Generated feasible routes based on </a:t>
            </a:r>
            <a:r>
              <a:rPr lang="en-IN" sz="1600" b="1" dirty="0">
                <a:latin typeface="Times New Roman" panose="02020603050405020304" pitchFamily="18" charset="0"/>
                <a:cs typeface="Times New Roman" panose="02020603050405020304" pitchFamily="18" charset="0"/>
              </a:rPr>
              <a:t>demand, connectivity, fleet availability, and budget</a:t>
            </a:r>
            <a:r>
              <a:rPr lang="en-IN" sz="1600"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Created suitable </a:t>
            </a:r>
            <a:r>
              <a:rPr lang="en-IN" sz="1600" b="1" dirty="0">
                <a:latin typeface="Times New Roman" panose="02020603050405020304" pitchFamily="18" charset="0"/>
                <a:cs typeface="Times New Roman" panose="02020603050405020304" pitchFamily="18" charset="0"/>
              </a:rPr>
              <a:t>service frequencies and departure timetables</a:t>
            </a:r>
            <a:r>
              <a:rPr lang="en-IN" sz="1600" dirty="0">
                <a:latin typeface="Times New Roman" panose="02020603050405020304" pitchFamily="18" charset="0"/>
                <a:cs typeface="Times New Roman" panose="02020603050405020304" pitchFamily="18" charset="0"/>
              </a:rPr>
              <a:t>.</a:t>
            </a:r>
          </a:p>
          <a:p>
            <a:pPr lvl="0"/>
            <a:r>
              <a:rPr lang="en-IN" sz="1600"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Improved the ability to measure </a:t>
            </a:r>
            <a:r>
              <a:rPr lang="en-IN" sz="1600" b="1" dirty="0">
                <a:latin typeface="Times New Roman" panose="02020603050405020304" pitchFamily="18" charset="0"/>
                <a:cs typeface="Times New Roman" panose="02020603050405020304" pitchFamily="18" charset="0"/>
              </a:rPr>
              <a:t>demand coverage</a:t>
            </a:r>
            <a:r>
              <a:rPr lang="en-IN" sz="1600" dirty="0">
                <a:latin typeface="Times New Roman" panose="02020603050405020304" pitchFamily="18" charset="0"/>
                <a:cs typeface="Times New Roman" panose="02020603050405020304" pitchFamily="18" charset="0"/>
              </a:rPr>
              <a:t> across important stops. </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Calculated </a:t>
            </a:r>
            <a:r>
              <a:rPr lang="en-IN" sz="1600" b="1" dirty="0">
                <a:latin typeface="Times New Roman" panose="02020603050405020304" pitchFamily="18" charset="0"/>
                <a:cs typeface="Times New Roman" panose="02020603050405020304" pitchFamily="18" charset="0"/>
              </a:rPr>
              <a:t>average passenger travel time</a:t>
            </a:r>
            <a:r>
              <a:rPr lang="en-IN" sz="1600" dirty="0">
                <a:latin typeface="Times New Roman" panose="02020603050405020304" pitchFamily="18" charset="0"/>
                <a:cs typeface="Times New Roman" panose="02020603050405020304" pitchFamily="18" charset="0"/>
              </a:rPr>
              <a:t> for the generated routes. </a:t>
            </a:r>
          </a:p>
          <a:p>
            <a:endParaRPr lang="en-IN" dirty="0"/>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TextBox 3">
            <a:extLst>
              <a:ext uri="{FF2B5EF4-FFF2-40B4-BE49-F238E27FC236}">
                <a16:creationId xmlns:a16="http://schemas.microsoft.com/office/drawing/2014/main" id="{E29916FF-DA4B-6A69-796C-227F30B52477}"/>
              </a:ext>
            </a:extLst>
          </p:cNvPr>
          <p:cNvSpPr txBox="1"/>
          <p:nvPr/>
        </p:nvSpPr>
        <p:spPr>
          <a:xfrm>
            <a:off x="3493477" y="1281723"/>
            <a:ext cx="8565661" cy="2831544"/>
          </a:xfrm>
          <a:prstGeom prst="rect">
            <a:avLst/>
          </a:prstGeom>
          <a:noFill/>
        </p:spPr>
        <p:txBody>
          <a:bodyPr wrap="square" rtlCol="0">
            <a:spAutoFit/>
          </a:bodyPr>
          <a:lstStyle/>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a:t>
            </a:r>
            <a:r>
              <a:rPr lang="en-IN" sz="1600" b="1" dirty="0">
                <a:latin typeface="Times New Roman" panose="02020603050405020304" pitchFamily="18" charset="0"/>
                <a:cs typeface="Times New Roman" panose="02020603050405020304" pitchFamily="18" charset="0"/>
              </a:rPr>
              <a:t>Public-Transit Planner</a:t>
            </a:r>
            <a:r>
              <a:rPr lang="en-IN" sz="1600" dirty="0">
                <a:latin typeface="Times New Roman" panose="02020603050405020304" pitchFamily="18" charset="0"/>
                <a:cs typeface="Times New Roman" panose="02020603050405020304" pitchFamily="18" charset="0"/>
              </a:rPr>
              <a:t> provides an efficient approach for designing public transport routes and timetables. </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Data structures such as </a:t>
            </a:r>
            <a:r>
              <a:rPr lang="en-IN" sz="1600" b="1" dirty="0">
                <a:latin typeface="Times New Roman" panose="02020603050405020304" pitchFamily="18" charset="0"/>
                <a:cs typeface="Times New Roman" panose="02020603050405020304" pitchFamily="18" charset="0"/>
              </a:rPr>
              <a:t>graphs, priority queues, arrays/lists, and hash maps</a:t>
            </a:r>
            <a:r>
              <a:rPr lang="en-IN" sz="1600" dirty="0">
                <a:latin typeface="Times New Roman" panose="02020603050405020304" pitchFamily="18" charset="0"/>
                <a:cs typeface="Times New Roman" panose="02020603050405020304" pitchFamily="18" charset="0"/>
              </a:rPr>
              <a:t> help manage transport data effectively.</a:t>
            </a:r>
          </a:p>
          <a:p>
            <a:pPr lvl="0"/>
            <a:r>
              <a:rPr lang="en-IN" sz="1600"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system considers important factors such as </a:t>
            </a:r>
            <a:r>
              <a:rPr lang="en-IN" sz="1600" b="1" dirty="0">
                <a:latin typeface="Times New Roman" panose="02020603050405020304" pitchFamily="18" charset="0"/>
                <a:cs typeface="Times New Roman" panose="02020603050405020304" pitchFamily="18" charset="0"/>
              </a:rPr>
              <a:t>passenger demand, route coverage, travel time, fleet availability, and operating cost</a:t>
            </a:r>
            <a:r>
              <a:rPr lang="en-IN" sz="1600" dirty="0">
                <a:latin typeface="Times New Roman" panose="02020603050405020304" pitchFamily="18" charset="0"/>
                <a:cs typeface="Times New Roman" panose="02020603050405020304" pitchFamily="18" charset="0"/>
              </a:rPr>
              <a:t>.</a:t>
            </a:r>
          </a:p>
          <a:p>
            <a:pPr lvl="0"/>
            <a:r>
              <a:rPr lang="en-IN" sz="1600"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proposed approach can support better utilization of limited transport resources.</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2" name="TextBox 1">
            <a:extLst>
              <a:ext uri="{FF2B5EF4-FFF2-40B4-BE49-F238E27FC236}">
                <a16:creationId xmlns:a16="http://schemas.microsoft.com/office/drawing/2014/main" id="{DD74C526-C573-73C8-3536-F1059B9B101D}"/>
              </a:ext>
            </a:extLst>
          </p:cNvPr>
          <p:cNvSpPr txBox="1"/>
          <p:nvPr/>
        </p:nvSpPr>
        <p:spPr>
          <a:xfrm>
            <a:off x="3071446" y="1086338"/>
            <a:ext cx="9668490" cy="2862322"/>
          </a:xfrm>
          <a:prstGeom prst="rect">
            <a:avLst/>
          </a:prstGeom>
          <a:noFill/>
        </p:spPr>
        <p:txBody>
          <a:bodyPr wrap="square" rtlCol="0">
            <a:spAutoFit/>
          </a:bodyPr>
          <a:lstStyle/>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Integrate </a:t>
            </a:r>
            <a:r>
              <a:rPr lang="en-IN" b="1" dirty="0">
                <a:latin typeface="Times New Roman" panose="02020603050405020304" pitchFamily="18" charset="0"/>
                <a:cs typeface="Times New Roman" panose="02020603050405020304" pitchFamily="18" charset="0"/>
              </a:rPr>
              <a:t>real-time GPS and traffic data</a:t>
            </a:r>
            <a:r>
              <a:rPr lang="en-IN" dirty="0">
                <a:latin typeface="Times New Roman" panose="02020603050405020304" pitchFamily="18" charset="0"/>
                <a:cs typeface="Times New Roman" panose="02020603050405020304" pitchFamily="18" charset="0"/>
              </a:rPr>
              <a:t> for dynamic route planning. </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Add </a:t>
            </a:r>
            <a:r>
              <a:rPr lang="en-IN" b="1" dirty="0">
                <a:latin typeface="Times New Roman" panose="02020603050405020304" pitchFamily="18" charset="0"/>
                <a:cs typeface="Times New Roman" panose="02020603050405020304" pitchFamily="18" charset="0"/>
              </a:rPr>
              <a:t>real-time passenger-demand updates</a:t>
            </a:r>
            <a:r>
              <a:rPr lang="en-IN" dirty="0">
                <a:latin typeface="Times New Roman" panose="02020603050405020304" pitchFamily="18" charset="0"/>
                <a:cs typeface="Times New Roman" panose="02020603050405020304" pitchFamily="18" charset="0"/>
              </a:rPr>
              <a:t> to adjust service frequency.</a:t>
            </a:r>
          </a:p>
          <a:p>
            <a:pPr lvl="0"/>
            <a:r>
              <a:rPr lang="en-IN"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 </a:t>
            </a:r>
            <a:r>
              <a:rPr lang="en-IN" b="1" dirty="0">
                <a:latin typeface="Times New Roman" panose="02020603050405020304" pitchFamily="18" charset="0"/>
                <a:cs typeface="Times New Roman" panose="02020603050405020304" pitchFamily="18" charset="0"/>
              </a:rPr>
              <a:t>AI and machine learning</a:t>
            </a:r>
            <a:r>
              <a:rPr lang="en-IN" dirty="0">
                <a:latin typeface="Times New Roman" panose="02020603050405020304" pitchFamily="18" charset="0"/>
                <a:cs typeface="Times New Roman" panose="02020603050405020304" pitchFamily="18" charset="0"/>
              </a:rPr>
              <a:t> to predict future passenger demand. </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Apply advanced optimization techniques to further reduce </a:t>
            </a:r>
            <a:r>
              <a:rPr lang="en-IN" b="1" dirty="0">
                <a:latin typeface="Times New Roman" panose="02020603050405020304" pitchFamily="18" charset="0"/>
                <a:cs typeface="Times New Roman" panose="02020603050405020304" pitchFamily="18" charset="0"/>
              </a:rPr>
              <a:t>travel time and operating costs</a:t>
            </a:r>
            <a:r>
              <a:rPr lang="en-IN" dirty="0">
                <a:latin typeface="Times New Roman" panose="02020603050405020304" pitchFamily="18" charset="0"/>
                <a:cs typeface="Times New Roman" panose="02020603050405020304" pitchFamily="18" charset="0"/>
              </a:rPr>
              <a:t>.</a:t>
            </a:r>
          </a:p>
          <a:p>
            <a:pPr lvl="0"/>
            <a:r>
              <a:rPr lang="en-IN"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Support </a:t>
            </a:r>
            <a:r>
              <a:rPr lang="en-IN" b="1" dirty="0">
                <a:latin typeface="Times New Roman" panose="02020603050405020304" pitchFamily="18" charset="0"/>
                <a:cs typeface="Times New Roman" panose="02020603050405020304" pitchFamily="18" charset="0"/>
              </a:rPr>
              <a:t>multiple transport modes</a:t>
            </a:r>
            <a:r>
              <a:rPr lang="en-IN" dirty="0">
                <a:latin typeface="Times New Roman" panose="02020603050405020304" pitchFamily="18" charset="0"/>
                <a:cs typeface="Times New Roman" panose="02020603050405020304" pitchFamily="18" charset="0"/>
              </a:rPr>
              <a:t>, such as buses, trains, and metro services.</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495</TotalTime>
  <Words>963</Words>
  <Application>Microsoft Office PowerPoint</Application>
  <PresentationFormat>Widescreen</PresentationFormat>
  <Paragraphs>97</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         Data Structures and Algorithms -3 (25CS2103E)  Public-Transit Planner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ravi hema manikanta kumar reddy</cp:lastModifiedBy>
  <cp:revision>26</cp:revision>
  <dcterms:created xsi:type="dcterms:W3CDTF">2024-08-29T05:25:00Z</dcterms:created>
  <dcterms:modified xsi:type="dcterms:W3CDTF">2026-09-02T08:19:32Z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