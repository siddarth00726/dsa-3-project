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23f1175-e95e-ed94-b592-c47fcd5e6c15}">
          <p14:sldIdLst>
            <p14:sldId id="256"/>
            <p14:sldId id="257"/>
            <p14:sldId id="258"/>
            <p14:sldId id="259"/>
            <p14:sldId id="260"/>
          </p14:sldIdLst>
        </p14:section>
        <p14:section name="Design" id="{6a5d48a0-b52f-41d1-6039-ac405c484880}">
          <p14:sldIdLst>
            <p14:sldId id="261"/>
            <p14:sldId id="262"/>
            <p14:sldId id="263"/>
          </p14:sldIdLst>
        </p14:section>
        <p14:section name="Implementation" id="{ef60d244-8500-42b4-bd63-d7be08bc8437}">
          <p14:sldIdLst>
            <p14:sldId id="264"/>
            <p14:sldId id="265"/>
            <p14:sldId id="266"/>
            <p14:sldId id="267"/>
          </p14:sldIdLst>
        </p14:section>
        <p14:section name="Evaluation" id="{0f1396f2-1d7c-f15d-d206-ff72ba2c8e82}">
          <p14:sldIdLst>
            <p14:sldId id="268"/>
            <p14:sldId id="269"/>
            <p14:sldId id="270"/>
          </p14:sldIdLst>
        </p14:section>
        <p14:section name="Wrap-up" id="{aff0c1b4-595b-d285-0c62-87ef8776516c}">
          <p14:sldIdLst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jpe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2999232" cy="2999232"/>
          </a:xfrm>
          <a:prstGeom prst="rect">
            <a:avLst/>
          </a:prstGeom>
        </p:spPr>
      </p:pic>
      <p:pic>
        <p:nvPicPr>
          <p:cNvPr id="3" name="Image 1" descr="/home/claude/ref/x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"/>
            <a:ext cx="2103120" cy="9006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Public-Transit Planner  |  DSA-3 (25CS2103E)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20"/>
            <a:ext cx="2103120" cy="9006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Public-Transit Planner  |  DSA-3 (25CS2103E)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2377440" y="274320"/>
            <a:ext cx="7406640" cy="731520"/>
          </a:xfrm>
          <a:prstGeom prst="rect">
            <a:avLst>
              <a:gd name="adj" fmla="val 12500"/>
            </a:avLst>
          </a:prstGeom>
          <a:solidFill>
            <a:schemeClr val="accent1"/>
          </a:solidFill>
          <a:ln/>
        </p:spPr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1"/>
          <p:cNvSpPr txBox="1"/>
          <p:nvPr/>
        </p:nvSpPr>
        <p:spPr>
          <a:xfrm>
            <a:off x="548640" y="1554480"/>
            <a:ext cx="68580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and Algorithms -3 (25CS2103E)</a:t>
            </a:r>
            <a:endParaRPr lang="en-US" sz="2200" dirty="0"/>
          </a:p>
        </p:txBody>
      </p:sp>
      <p:sp>
        <p:nvSpPr>
          <p:cNvPr id="3" name="txt2"/>
          <p:cNvSpPr txBox="1"/>
          <p:nvPr/>
        </p:nvSpPr>
        <p:spPr>
          <a:xfrm>
            <a:off x="548640" y="2103120"/>
            <a:ext cx="685800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Public-Transit Planner</a:t>
            </a:r>
            <a:endParaRPr lang="en-US" sz="4400" dirty="0"/>
          </a:p>
        </p:txBody>
      </p:sp>
      <p:sp>
        <p:nvSpPr>
          <p:cNvPr id="4" name="txt3"/>
          <p:cNvSpPr txBox="1"/>
          <p:nvPr/>
        </p:nvSpPr>
        <p:spPr>
          <a:xfrm>
            <a:off x="548640" y="3108960"/>
            <a:ext cx="6858000" cy="1097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 Venkata Siddarth (2520090187)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 Sanjay (2520090133)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 Hema Manikanta (2520090228)</a:t>
            </a:r>
            <a:endParaRPr lang="en-US" sz="1800" dirty="0"/>
          </a:p>
        </p:txBody>
      </p:sp>
      <p:sp>
        <p:nvSpPr>
          <p:cNvPr id="5" name="txt4"/>
          <p:cNvSpPr txBox="1"/>
          <p:nvPr/>
        </p:nvSpPr>
        <p:spPr>
          <a:xfrm>
            <a:off x="548640" y="4434840"/>
            <a:ext cx="6858000" cy="1097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Under the Esteemed Guidance of</a:t>
            </a:r>
            <a:endParaRPr lang="en-US" sz="14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Dr. Dyuti Banerjee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Asst. Prof, AI&amp;DS</a:t>
            </a:r>
            <a:endParaRPr lang="en-US" sz="1400" dirty="0"/>
          </a:p>
        </p:txBody>
      </p:sp>
      <p:sp>
        <p:nvSpPr>
          <p:cNvPr id="6" name="txt5"/>
          <p:cNvSpPr txBox="1"/>
          <p:nvPr/>
        </p:nvSpPr>
        <p:spPr>
          <a:xfrm>
            <a:off x="548640" y="5852160"/>
            <a:ext cx="6858000" cy="365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Team 23  |  Section 13  |  A.Y. 2026-2027</a:t>
            </a:r>
            <a:endParaRPr lang="en-US" sz="1400" dirty="0"/>
          </a:p>
        </p:txBody>
      </p:sp>
      <p:sp>
        <p:nvSpPr>
          <p:cNvPr id="7" name="edge6"/>
          <p:cNvSpPr/>
          <p:nvPr/>
        </p:nvSpPr>
        <p:spPr>
          <a:xfrm flipV="1">
            <a:off x="8229600" y="1645920"/>
            <a:ext cx="1828800" cy="18288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8" name="edge7"/>
          <p:cNvSpPr/>
          <p:nvPr/>
        </p:nvSpPr>
        <p:spPr>
          <a:xfrm>
            <a:off x="10058400" y="1645920"/>
            <a:ext cx="1097280" cy="137160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9" name="edge8"/>
          <p:cNvSpPr/>
          <p:nvPr/>
        </p:nvSpPr>
        <p:spPr>
          <a:xfrm>
            <a:off x="8229600" y="1828800"/>
            <a:ext cx="1188720" cy="146304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10" name="edge9"/>
          <p:cNvSpPr/>
          <p:nvPr/>
        </p:nvSpPr>
        <p:spPr>
          <a:xfrm flipV="1">
            <a:off x="9418320" y="1645920"/>
            <a:ext cx="640080" cy="164592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11" name="edge10"/>
          <p:cNvSpPr/>
          <p:nvPr/>
        </p:nvSpPr>
        <p:spPr>
          <a:xfrm flipV="1">
            <a:off x="9418320" y="3017520"/>
            <a:ext cx="1737360" cy="27432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12" name="edge11"/>
          <p:cNvSpPr/>
          <p:nvPr/>
        </p:nvSpPr>
        <p:spPr>
          <a:xfrm flipV="1">
            <a:off x="7955280" y="3291840"/>
            <a:ext cx="1463040" cy="73152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13" name="edge12"/>
          <p:cNvSpPr/>
          <p:nvPr/>
        </p:nvSpPr>
        <p:spPr>
          <a:xfrm flipV="1">
            <a:off x="9052560" y="3291840"/>
            <a:ext cx="365760" cy="192024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14" name="edge13"/>
          <p:cNvSpPr/>
          <p:nvPr/>
        </p:nvSpPr>
        <p:spPr>
          <a:xfrm>
            <a:off x="7955280" y="4023360"/>
            <a:ext cx="1097280" cy="118872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15" name="edge14"/>
          <p:cNvSpPr/>
          <p:nvPr/>
        </p:nvSpPr>
        <p:spPr>
          <a:xfrm flipV="1">
            <a:off x="9052560" y="4754880"/>
            <a:ext cx="1828800" cy="45720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16" name="edge15"/>
          <p:cNvSpPr/>
          <p:nvPr/>
        </p:nvSpPr>
        <p:spPr>
          <a:xfrm flipV="1">
            <a:off x="10881360" y="3017520"/>
            <a:ext cx="274320" cy="173736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17" name="node16"/>
          <p:cNvSpPr/>
          <p:nvPr/>
        </p:nvSpPr>
        <p:spPr>
          <a:xfrm>
            <a:off x="8065008" y="1664208"/>
            <a:ext cx="329184" cy="329184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8" name="node17"/>
          <p:cNvSpPr/>
          <p:nvPr/>
        </p:nvSpPr>
        <p:spPr>
          <a:xfrm>
            <a:off x="9893808" y="1481328"/>
            <a:ext cx="329184" cy="329184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9" name="node18"/>
          <p:cNvSpPr/>
          <p:nvPr/>
        </p:nvSpPr>
        <p:spPr>
          <a:xfrm>
            <a:off x="10991088" y="2852928"/>
            <a:ext cx="329184" cy="329184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0" name="node19"/>
          <p:cNvSpPr/>
          <p:nvPr/>
        </p:nvSpPr>
        <p:spPr>
          <a:xfrm>
            <a:off x="9166860" y="3040380"/>
            <a:ext cx="502920" cy="50292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1" name="node20"/>
          <p:cNvSpPr/>
          <p:nvPr/>
        </p:nvSpPr>
        <p:spPr>
          <a:xfrm>
            <a:off x="7790688" y="3858768"/>
            <a:ext cx="329184" cy="329184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2" name="node21"/>
          <p:cNvSpPr/>
          <p:nvPr/>
        </p:nvSpPr>
        <p:spPr>
          <a:xfrm>
            <a:off x="8801100" y="4960620"/>
            <a:ext cx="502920" cy="50292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3" name="node22"/>
          <p:cNvSpPr/>
          <p:nvPr/>
        </p:nvSpPr>
        <p:spPr>
          <a:xfrm>
            <a:off x="10716768" y="4590288"/>
            <a:ext cx="329184" cy="329184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4" name="txt23"/>
          <p:cNvSpPr txBox="1"/>
          <p:nvPr/>
        </p:nvSpPr>
        <p:spPr>
          <a:xfrm>
            <a:off x="7589520" y="5760720"/>
            <a:ext cx="420624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Stops = vertices  ·  Connections = edges  ·  Large nodes = high-demand stops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Abstract</a:t>
            </a:r>
            <a:endParaRPr lang="en-US" sz="2800" dirty="0"/>
          </a:p>
        </p:txBody>
      </p:sp>
      <p:sp>
        <p:nvSpPr>
          <p:cNvPr id="3" name="card24"/>
          <p:cNvSpPr/>
          <p:nvPr/>
        </p:nvSpPr>
        <p:spPr>
          <a:xfrm>
            <a:off x="548640" y="1280160"/>
            <a:ext cx="35661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xt25"/>
          <p:cNvSpPr txBox="1"/>
          <p:nvPr/>
        </p:nvSpPr>
        <p:spPr>
          <a:xfrm>
            <a:off x="640080" y="1325880"/>
            <a:ext cx="3383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Purpose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Data-structures-based system for planning efficient public transport routes and timetables.</a:t>
            </a:r>
            <a:endParaRPr lang="en-US" sz="1400" dirty="0"/>
          </a:p>
        </p:txBody>
      </p:sp>
      <p:sp>
        <p:nvSpPr>
          <p:cNvPr id="5" name="card26"/>
          <p:cNvSpPr/>
          <p:nvPr/>
        </p:nvSpPr>
        <p:spPr>
          <a:xfrm>
            <a:off x="4297680" y="1280160"/>
            <a:ext cx="35661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xt27"/>
          <p:cNvSpPr txBox="1"/>
          <p:nvPr/>
        </p:nvSpPr>
        <p:spPr>
          <a:xfrm>
            <a:off x="4389120" y="1325880"/>
            <a:ext cx="3383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Data Processing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Cleans and organizes stop, route, and passenger-demand data.</a:t>
            </a:r>
            <a:endParaRPr lang="en-US" sz="1400" dirty="0"/>
          </a:p>
        </p:txBody>
      </p:sp>
      <p:sp>
        <p:nvSpPr>
          <p:cNvPr id="7" name="card28"/>
          <p:cNvSpPr/>
          <p:nvPr/>
        </p:nvSpPr>
        <p:spPr>
          <a:xfrm>
            <a:off x="8046720" y="1280160"/>
            <a:ext cx="35661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xt29"/>
          <p:cNvSpPr txBox="1"/>
          <p:nvPr/>
        </p:nvSpPr>
        <p:spPr>
          <a:xfrm>
            <a:off x="8138160" y="1325880"/>
            <a:ext cx="3383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Important Stops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Identifies major stops and high-demand connections.</a:t>
            </a:r>
            <a:endParaRPr lang="en-US" sz="1400" dirty="0"/>
          </a:p>
        </p:txBody>
      </p:sp>
      <p:sp>
        <p:nvSpPr>
          <p:cNvPr id="9" name="card30"/>
          <p:cNvSpPr/>
          <p:nvPr/>
        </p:nvSpPr>
        <p:spPr>
          <a:xfrm>
            <a:off x="548640" y="2971800"/>
            <a:ext cx="35661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xt31"/>
          <p:cNvSpPr txBox="1"/>
          <p:nvPr/>
        </p:nvSpPr>
        <p:spPr>
          <a:xfrm>
            <a:off x="640080" y="3017520"/>
            <a:ext cx="3383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Route Planning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Builds feasible routes from passenger demand and available resources.</a:t>
            </a:r>
            <a:endParaRPr lang="en-US" sz="1400" dirty="0"/>
          </a:p>
        </p:txBody>
      </p:sp>
      <p:sp>
        <p:nvSpPr>
          <p:cNvPr id="11" name="card32"/>
          <p:cNvSpPr/>
          <p:nvPr/>
        </p:nvSpPr>
        <p:spPr>
          <a:xfrm>
            <a:off x="4297680" y="2971800"/>
            <a:ext cx="35661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xt33"/>
          <p:cNvSpPr txBox="1"/>
          <p:nvPr/>
        </p:nvSpPr>
        <p:spPr>
          <a:xfrm>
            <a:off x="4389120" y="3017520"/>
            <a:ext cx="3383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Frequency Assignment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Assigns suitable service frequencies and departure times.</a:t>
            </a:r>
            <a:endParaRPr lang="en-US" sz="1400" dirty="0"/>
          </a:p>
        </p:txBody>
      </p:sp>
      <p:sp>
        <p:nvSpPr>
          <p:cNvPr id="13" name="card34"/>
          <p:cNvSpPr/>
          <p:nvPr/>
        </p:nvSpPr>
        <p:spPr>
          <a:xfrm>
            <a:off x="8046720" y="2971800"/>
            <a:ext cx="35661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xt35"/>
          <p:cNvSpPr txBox="1"/>
          <p:nvPr/>
        </p:nvSpPr>
        <p:spPr>
          <a:xfrm>
            <a:off x="8138160" y="3017520"/>
            <a:ext cx="3383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Fleet Management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Plans routes within the available buses and fleet capacity.</a:t>
            </a:r>
            <a:endParaRPr lang="en-US" sz="1400" dirty="0"/>
          </a:p>
        </p:txBody>
      </p:sp>
      <p:sp>
        <p:nvSpPr>
          <p:cNvPr id="15" name="card36"/>
          <p:cNvSpPr/>
          <p:nvPr/>
        </p:nvSpPr>
        <p:spPr>
          <a:xfrm>
            <a:off x="548640" y="4663440"/>
            <a:ext cx="35661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xt37"/>
          <p:cNvSpPr txBox="1"/>
          <p:nvPr/>
        </p:nvSpPr>
        <p:spPr>
          <a:xfrm>
            <a:off x="640080" y="4709160"/>
            <a:ext cx="3383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Budget Management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Keeps the transport plan within the fixed operating budget.</a:t>
            </a:r>
            <a:endParaRPr lang="en-US" sz="1400" dirty="0"/>
          </a:p>
        </p:txBody>
      </p:sp>
      <p:sp>
        <p:nvSpPr>
          <p:cNvPr id="17" name="card38"/>
          <p:cNvSpPr/>
          <p:nvPr/>
        </p:nvSpPr>
        <p:spPr>
          <a:xfrm>
            <a:off x="4297680" y="4663440"/>
            <a:ext cx="35661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xt39"/>
          <p:cNvSpPr txBox="1"/>
          <p:nvPr/>
        </p:nvSpPr>
        <p:spPr>
          <a:xfrm>
            <a:off x="4389120" y="4709160"/>
            <a:ext cx="3383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Performance Measures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Reports demand coverage, travel time, fleet use, and operating cost.</a:t>
            </a:r>
            <a:endParaRPr lang="en-US" sz="1400" dirty="0"/>
          </a:p>
        </p:txBody>
      </p:sp>
      <p:sp>
        <p:nvSpPr>
          <p:cNvPr id="19" name="card40"/>
          <p:cNvSpPr/>
          <p:nvPr/>
        </p:nvSpPr>
        <p:spPr>
          <a:xfrm>
            <a:off x="8046720" y="4663440"/>
            <a:ext cx="35661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xt41"/>
          <p:cNvSpPr txBox="1"/>
          <p:nvPr/>
        </p:nvSpPr>
        <p:spPr>
          <a:xfrm>
            <a:off x="8138160" y="4709160"/>
            <a:ext cx="3383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Objective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An efficient, practical plan that satisfies real-world constraints.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3" name="card42"/>
          <p:cNvSpPr/>
          <p:nvPr/>
        </p:nvSpPr>
        <p:spPr>
          <a:xfrm>
            <a:off x="548640" y="1325880"/>
            <a:ext cx="5394960" cy="4846320"/>
          </a:xfrm>
          <a:prstGeom prst="roundRect">
            <a:avLst>
              <a:gd name="adj" fmla="val 1509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xt43"/>
          <p:cNvSpPr txBox="1"/>
          <p:nvPr/>
        </p:nvSpPr>
        <p:spPr>
          <a:xfrm>
            <a:off x="640080" y="1371600"/>
            <a:ext cx="521208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The Challenge</a:t>
            </a:r>
            <a:endParaRPr lang="en-US" sz="1400" dirty="0"/>
          </a:p>
        </p:txBody>
      </p:sp>
      <p:sp>
        <p:nvSpPr>
          <p:cNvPr id="5" name="txt44"/>
          <p:cNvSpPr txBox="1"/>
          <p:nvPr/>
        </p:nvSpPr>
        <p:spPr>
          <a:xfrm>
            <a:off x="731520" y="2011680"/>
            <a:ext cx="5029200" cy="4023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Agencies must serve many demand points with limited buses, drivers, time, and budget.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Manual planning and static schedules lead to low coverage, high cost, long travel times, and poor vehicle use.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Demand varies from stop to stop, so choosing routes is harder.</a:t>
            </a:r>
            <a:endParaRPr lang="en-US" sz="2200" dirty="0"/>
          </a:p>
        </p:txBody>
      </p:sp>
      <p:sp>
        <p:nvSpPr>
          <p:cNvPr id="6" name="card45"/>
          <p:cNvSpPr/>
          <p:nvPr/>
        </p:nvSpPr>
        <p:spPr>
          <a:xfrm>
            <a:off x="6263640" y="1325880"/>
            <a:ext cx="5394960" cy="4846320"/>
          </a:xfrm>
          <a:prstGeom prst="roundRect">
            <a:avLst>
              <a:gd name="adj" fmla="val 1509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xt46"/>
          <p:cNvSpPr txBox="1"/>
          <p:nvPr/>
        </p:nvSpPr>
        <p:spPr>
          <a:xfrm>
            <a:off x="6355080" y="1371600"/>
            <a:ext cx="521208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Our Approach</a:t>
            </a:r>
            <a:endParaRPr lang="en-US" sz="1400" dirty="0"/>
          </a:p>
        </p:txBody>
      </p:sp>
      <p:sp>
        <p:nvSpPr>
          <p:cNvPr id="8" name="txt47"/>
          <p:cNvSpPr txBox="1"/>
          <p:nvPr/>
        </p:nvSpPr>
        <p:spPr>
          <a:xfrm>
            <a:off x="6446520" y="2011680"/>
            <a:ext cx="5029200" cy="4023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Model the network as a graph: stops are vertices, connections are edges.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Edges carry distance and travel-time information.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Clean and organize stop, route, and demand data first.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Give high-demand stops and key connections higher priority.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Literature Survey</a:t>
            </a:r>
            <a:endParaRPr lang="en-US" sz="2800" dirty="0"/>
          </a:p>
        </p:txBody>
      </p:sp>
      <p:sp>
        <p:nvSpPr>
          <p:cNvPr id="3" name="card48"/>
          <p:cNvSpPr/>
          <p:nvPr/>
        </p:nvSpPr>
        <p:spPr>
          <a:xfrm>
            <a:off x="548640" y="128016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xt49"/>
          <p:cNvSpPr txBox="1"/>
          <p:nvPr/>
        </p:nvSpPr>
        <p:spPr>
          <a:xfrm>
            <a:off x="640080" y="1325880"/>
            <a:ext cx="525780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Guihaire &amp; Hao (2008)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Reviewed transit network design and scheduling: route design, frequency setting and timetabling. Network structure directly affects coverage, convenience, and cost.</a:t>
            </a:r>
            <a:endParaRPr lang="en-US" sz="1400" dirty="0"/>
          </a:p>
        </p:txBody>
      </p:sp>
      <p:sp>
        <p:nvSpPr>
          <p:cNvPr id="5" name="card50"/>
          <p:cNvSpPr/>
          <p:nvPr/>
        </p:nvSpPr>
        <p:spPr>
          <a:xfrm>
            <a:off x="6172200" y="128016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xt51"/>
          <p:cNvSpPr txBox="1"/>
          <p:nvPr/>
        </p:nvSpPr>
        <p:spPr>
          <a:xfrm>
            <a:off x="6263640" y="1325880"/>
            <a:ext cx="525780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Schöbel (2012)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Surveyed models and algorithms for line planning. Stressed designing routes that meet passenger demand within operational requirements.</a:t>
            </a:r>
            <a:endParaRPr lang="en-US" sz="1400" dirty="0"/>
          </a:p>
        </p:txBody>
      </p:sp>
      <p:sp>
        <p:nvSpPr>
          <p:cNvPr id="7" name="card52"/>
          <p:cNvSpPr/>
          <p:nvPr/>
        </p:nvSpPr>
        <p:spPr>
          <a:xfrm>
            <a:off x="548640" y="361188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xt53"/>
          <p:cNvSpPr txBox="1"/>
          <p:nvPr/>
        </p:nvSpPr>
        <p:spPr>
          <a:xfrm>
            <a:off x="640080" y="3657600"/>
            <a:ext cx="525780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López-Ramos (2014)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Surveyed integrated network design and frequency setting. Both decisions shape service quality and operator cost under resource limits.</a:t>
            </a:r>
            <a:endParaRPr lang="en-US" sz="1400" dirty="0"/>
          </a:p>
        </p:txBody>
      </p:sp>
      <p:sp>
        <p:nvSpPr>
          <p:cNvPr id="9" name="card54"/>
          <p:cNvSpPr/>
          <p:nvPr/>
        </p:nvSpPr>
        <p:spPr>
          <a:xfrm>
            <a:off x="6172200" y="361188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xt55"/>
          <p:cNvSpPr txBox="1"/>
          <p:nvPr/>
        </p:nvSpPr>
        <p:spPr>
          <a:xfrm>
            <a:off x="6263640" y="3657600"/>
            <a:ext cx="525780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Durán-Micco &amp; Vansteenwegen (2022)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Extensive survey of TNDP and TNDFSP objectives, constraints, and solution methods; noted the gap between theory and practice.</a:t>
            </a:r>
            <a:endParaRPr lang="en-US" sz="1400" dirty="0"/>
          </a:p>
        </p:txBody>
      </p:sp>
      <p:sp>
        <p:nvSpPr>
          <p:cNvPr id="11" name="txt56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Research gap: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demand coverage, travel time, and budget are rarely handled together in one practical, implementable planner.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Problem Statement &amp; Objectives</a:t>
            </a:r>
            <a:endParaRPr lang="en-US" sz="2800" dirty="0"/>
          </a:p>
        </p:txBody>
      </p:sp>
      <p:sp>
        <p:nvSpPr>
          <p:cNvPr id="3" name="card57"/>
          <p:cNvSpPr/>
          <p:nvPr/>
        </p:nvSpPr>
        <p:spPr>
          <a:xfrm>
            <a:off x="548640" y="1325880"/>
            <a:ext cx="4937760" cy="4846320"/>
          </a:xfrm>
          <a:prstGeom prst="roundRect">
            <a:avLst>
              <a:gd name="adj" fmla="val 1509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xt58"/>
          <p:cNvSpPr txBox="1"/>
          <p:nvPr/>
        </p:nvSpPr>
        <p:spPr>
          <a:xfrm>
            <a:off x="640080" y="1371600"/>
            <a:ext cx="475488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5" name="txt59"/>
          <p:cNvSpPr txBox="1"/>
          <p:nvPr/>
        </p:nvSpPr>
        <p:spPr>
          <a:xfrm>
            <a:off x="731520" y="2011680"/>
            <a:ext cx="4572000" cy="4023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Agencies must serve high passenger demand with limited buses, drivers, time, and budget.</a:t>
            </a:r>
            <a:endParaRPr lang="en-US" sz="2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Manual planning and static schedules cause low coverage, long travel times, high cost, and poor fleet use.</a:t>
            </a:r>
            <a:endParaRPr lang="en-US" sz="2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Demand differs across stops, making route and frequency choices difficult.</a:t>
            </a:r>
            <a:endParaRPr lang="en-US" sz="2100" dirty="0"/>
          </a:p>
        </p:txBody>
      </p:sp>
      <p:sp>
        <p:nvSpPr>
          <p:cNvPr id="6" name="num60"/>
          <p:cNvSpPr/>
          <p:nvPr/>
        </p:nvSpPr>
        <p:spPr>
          <a:xfrm>
            <a:off x="5852160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umt60"/>
          <p:cNvSpPr txBox="1"/>
          <p:nvPr/>
        </p:nvSpPr>
        <p:spPr>
          <a:xfrm>
            <a:off x="585216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xt61"/>
          <p:cNvSpPr txBox="1"/>
          <p:nvPr/>
        </p:nvSpPr>
        <p:spPr>
          <a:xfrm>
            <a:off x="6446520" y="1280160"/>
            <a:ext cx="5212080" cy="777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Represent the network as a graph: stops as vertices, connections as edges.</a:t>
            </a:r>
            <a:endParaRPr lang="en-US" sz="1800" dirty="0"/>
          </a:p>
        </p:txBody>
      </p:sp>
      <p:sp>
        <p:nvSpPr>
          <p:cNvPr id="9" name="num62"/>
          <p:cNvSpPr/>
          <p:nvPr/>
        </p:nvSpPr>
        <p:spPr>
          <a:xfrm>
            <a:off x="5852160" y="235000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t62"/>
          <p:cNvSpPr txBox="1"/>
          <p:nvPr/>
        </p:nvSpPr>
        <p:spPr>
          <a:xfrm>
            <a:off x="5852160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xt63"/>
          <p:cNvSpPr txBox="1"/>
          <p:nvPr/>
        </p:nvSpPr>
        <p:spPr>
          <a:xfrm>
            <a:off x="6446520" y="2258568"/>
            <a:ext cx="5212080" cy="777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Clean and organize stop, route, travel-time, and demand data.</a:t>
            </a:r>
            <a:endParaRPr lang="en-US" sz="1800" dirty="0"/>
          </a:p>
        </p:txBody>
      </p:sp>
      <p:sp>
        <p:nvSpPr>
          <p:cNvPr id="12" name="num64"/>
          <p:cNvSpPr/>
          <p:nvPr/>
        </p:nvSpPr>
        <p:spPr>
          <a:xfrm>
            <a:off x="5852160" y="3328416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umt64"/>
          <p:cNvSpPr txBox="1"/>
          <p:nvPr/>
        </p:nvSpPr>
        <p:spPr>
          <a:xfrm>
            <a:off x="5852160" y="3328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xt65"/>
          <p:cNvSpPr txBox="1"/>
          <p:nvPr/>
        </p:nvSpPr>
        <p:spPr>
          <a:xfrm>
            <a:off x="6446520" y="3236976"/>
            <a:ext cx="5212080" cy="777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Identify high-demand stops and important connections.</a:t>
            </a:r>
            <a:endParaRPr lang="en-US" sz="1800" dirty="0"/>
          </a:p>
        </p:txBody>
      </p:sp>
      <p:sp>
        <p:nvSpPr>
          <p:cNvPr id="15" name="num66"/>
          <p:cNvSpPr/>
          <p:nvPr/>
        </p:nvSpPr>
        <p:spPr>
          <a:xfrm>
            <a:off x="5852160" y="4306824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t66"/>
          <p:cNvSpPr txBox="1"/>
          <p:nvPr/>
        </p:nvSpPr>
        <p:spPr>
          <a:xfrm>
            <a:off x="5852160" y="4306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xt67"/>
          <p:cNvSpPr txBox="1"/>
          <p:nvPr/>
        </p:nvSpPr>
        <p:spPr>
          <a:xfrm>
            <a:off x="6446520" y="4215384"/>
            <a:ext cx="5212080" cy="777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Generate feasible routes, frequencies, and timetables within fleet and budget limits.</a:t>
            </a:r>
            <a:endParaRPr lang="en-US" sz="1800" dirty="0"/>
          </a:p>
        </p:txBody>
      </p:sp>
      <p:sp>
        <p:nvSpPr>
          <p:cNvPr id="18" name="num68"/>
          <p:cNvSpPr/>
          <p:nvPr/>
        </p:nvSpPr>
        <p:spPr>
          <a:xfrm>
            <a:off x="5852160" y="528523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numt68"/>
          <p:cNvSpPr txBox="1"/>
          <p:nvPr/>
        </p:nvSpPr>
        <p:spPr>
          <a:xfrm>
            <a:off x="5852160" y="5285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0" name="txt69"/>
          <p:cNvSpPr txBox="1"/>
          <p:nvPr/>
        </p:nvSpPr>
        <p:spPr>
          <a:xfrm>
            <a:off x="6446520" y="5193792"/>
            <a:ext cx="5212080" cy="777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Evaluate coverage, travel time, fleet use, and operating cost.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Proposed Methodology</a:t>
            </a:r>
            <a:endParaRPr lang="en-US" sz="2800" dirty="0"/>
          </a:p>
        </p:txBody>
      </p:sp>
      <p:sp>
        <p:nvSpPr>
          <p:cNvPr id="3" name="num70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umt70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xt71"/>
          <p:cNvSpPr txBox="1"/>
          <p:nvPr/>
        </p:nvSpPr>
        <p:spPr>
          <a:xfrm>
            <a:off x="1143000" y="1234440"/>
            <a:ext cx="658368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Data Processing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Clean stop, route, and demand data</a:t>
            </a:r>
            <a:endParaRPr lang="en-US" sz="1600" dirty="0"/>
          </a:p>
        </p:txBody>
      </p:sp>
      <p:sp>
        <p:nvSpPr>
          <p:cNvPr id="6" name="num72"/>
          <p:cNvSpPr/>
          <p:nvPr/>
        </p:nvSpPr>
        <p:spPr>
          <a:xfrm>
            <a:off x="548640" y="195681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umt72"/>
          <p:cNvSpPr txBox="1"/>
          <p:nvPr/>
        </p:nvSpPr>
        <p:spPr>
          <a:xfrm>
            <a:off x="548640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xt73"/>
          <p:cNvSpPr txBox="1"/>
          <p:nvPr/>
        </p:nvSpPr>
        <p:spPr>
          <a:xfrm>
            <a:off x="1143000" y="1911096"/>
            <a:ext cx="658368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Identify Important Stops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major stops and high-demand links</a:t>
            </a:r>
            <a:endParaRPr lang="en-US" sz="1600" dirty="0"/>
          </a:p>
        </p:txBody>
      </p:sp>
      <p:sp>
        <p:nvSpPr>
          <p:cNvPr id="9" name="num74"/>
          <p:cNvSpPr/>
          <p:nvPr/>
        </p:nvSpPr>
        <p:spPr>
          <a:xfrm>
            <a:off x="548640" y="26334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t74"/>
          <p:cNvSpPr txBox="1"/>
          <p:nvPr/>
        </p:nvSpPr>
        <p:spPr>
          <a:xfrm>
            <a:off x="54864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xt75"/>
          <p:cNvSpPr txBox="1"/>
          <p:nvPr/>
        </p:nvSpPr>
        <p:spPr>
          <a:xfrm>
            <a:off x="1143000" y="2587752"/>
            <a:ext cx="658368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Route Planning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Build feasible routes from demand</a:t>
            </a:r>
            <a:endParaRPr lang="en-US" sz="1600" dirty="0"/>
          </a:p>
        </p:txBody>
      </p:sp>
      <p:sp>
        <p:nvSpPr>
          <p:cNvPr id="12" name="num76"/>
          <p:cNvSpPr/>
          <p:nvPr/>
        </p:nvSpPr>
        <p:spPr>
          <a:xfrm>
            <a:off x="548640" y="33101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umt76"/>
          <p:cNvSpPr txBox="1"/>
          <p:nvPr/>
        </p:nvSpPr>
        <p:spPr>
          <a:xfrm>
            <a:off x="54864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xt77"/>
          <p:cNvSpPr txBox="1"/>
          <p:nvPr/>
        </p:nvSpPr>
        <p:spPr>
          <a:xfrm>
            <a:off x="1143000" y="3264408"/>
            <a:ext cx="658368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Frequency Assignment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Set frequencies and departure times</a:t>
            </a:r>
            <a:endParaRPr lang="en-US" sz="1600" dirty="0"/>
          </a:p>
        </p:txBody>
      </p:sp>
      <p:sp>
        <p:nvSpPr>
          <p:cNvPr id="15" name="num78"/>
          <p:cNvSpPr/>
          <p:nvPr/>
        </p:nvSpPr>
        <p:spPr>
          <a:xfrm>
            <a:off x="548640" y="398678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t78"/>
          <p:cNvSpPr txBox="1"/>
          <p:nvPr/>
        </p:nvSpPr>
        <p:spPr>
          <a:xfrm>
            <a:off x="54864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xt79"/>
          <p:cNvSpPr txBox="1"/>
          <p:nvPr/>
        </p:nvSpPr>
        <p:spPr>
          <a:xfrm>
            <a:off x="1143000" y="3941064"/>
            <a:ext cx="658368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Fleet Management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Respect available buses and capacity</a:t>
            </a:r>
            <a:endParaRPr lang="en-US" sz="1600" dirty="0"/>
          </a:p>
        </p:txBody>
      </p:sp>
      <p:sp>
        <p:nvSpPr>
          <p:cNvPr id="18" name="num80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numt80"/>
          <p:cNvSpPr txBox="1"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xt81"/>
          <p:cNvSpPr txBox="1"/>
          <p:nvPr/>
        </p:nvSpPr>
        <p:spPr>
          <a:xfrm>
            <a:off x="114300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Budget Management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Stay within the operating budget</a:t>
            </a:r>
            <a:endParaRPr lang="en-US" sz="1600" dirty="0"/>
          </a:p>
        </p:txBody>
      </p:sp>
      <p:sp>
        <p:nvSpPr>
          <p:cNvPr id="21" name="num82"/>
          <p:cNvSpPr/>
          <p:nvPr/>
        </p:nvSpPr>
        <p:spPr>
          <a:xfrm>
            <a:off x="548640" y="534009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t82"/>
          <p:cNvSpPr txBox="1"/>
          <p:nvPr/>
        </p:nvSpPr>
        <p:spPr>
          <a:xfrm>
            <a:off x="548640" y="5340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txt83"/>
          <p:cNvSpPr txBox="1"/>
          <p:nvPr/>
        </p:nvSpPr>
        <p:spPr>
          <a:xfrm>
            <a:off x="1143000" y="5294376"/>
            <a:ext cx="658368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Performance Measures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Coverage, travel time, cost</a:t>
            </a:r>
            <a:endParaRPr lang="en-US" sz="1600" dirty="0"/>
          </a:p>
        </p:txBody>
      </p:sp>
      <p:sp>
        <p:nvSpPr>
          <p:cNvPr id="24" name="txt84"/>
          <p:cNvSpPr txBox="1"/>
          <p:nvPr/>
        </p:nvSpPr>
        <p:spPr>
          <a:xfrm>
            <a:off x="548640" y="6035040"/>
            <a:ext cx="6949440" cy="320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If the plan violates budget, fleet, or coverage limits, it is adjusted and re-planned.</a:t>
            </a:r>
            <a:endParaRPr lang="en-US" sz="1200" dirty="0"/>
          </a:p>
        </p:txBody>
      </p:sp>
      <p:pic>
        <p:nvPicPr>
          <p:cNvPr id="25" name="flowchart" descr="Flow chart of the Public-Transit Planner proc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234440"/>
            <a:ext cx="3383280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3" name="card85"/>
          <p:cNvSpPr/>
          <p:nvPr/>
        </p:nvSpPr>
        <p:spPr>
          <a:xfrm>
            <a:off x="548640" y="1371600"/>
            <a:ext cx="1965960" cy="35661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xt86"/>
          <p:cNvSpPr txBox="1"/>
          <p:nvPr/>
        </p:nvSpPr>
        <p:spPr>
          <a:xfrm>
            <a:off x="640080" y="1417320"/>
            <a:ext cx="178308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Input Layer</a:t>
            </a:r>
            <a:endParaRPr lang="en-US" sz="1400" dirty="0"/>
          </a:p>
        </p:txBody>
      </p:sp>
      <p:sp>
        <p:nvSpPr>
          <p:cNvPr id="5" name="txt87"/>
          <p:cNvSpPr txBox="1"/>
          <p:nvPr/>
        </p:nvSpPr>
        <p:spPr>
          <a:xfrm>
            <a:off x="640080" y="2057400"/>
            <a:ext cx="178308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Stop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Route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Passenger demand (CSV/text)</a:t>
            </a:r>
            <a:endParaRPr lang="en-US" sz="1400" dirty="0"/>
          </a:p>
        </p:txBody>
      </p:sp>
      <p:sp>
        <p:nvSpPr>
          <p:cNvPr id="6" name="arr88"/>
          <p:cNvSpPr/>
          <p:nvPr/>
        </p:nvSpPr>
        <p:spPr>
          <a:xfrm>
            <a:off x="2532888" y="3154680"/>
            <a:ext cx="301752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card89"/>
          <p:cNvSpPr/>
          <p:nvPr/>
        </p:nvSpPr>
        <p:spPr>
          <a:xfrm>
            <a:off x="2834640" y="1371600"/>
            <a:ext cx="1965960" cy="35661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xt90"/>
          <p:cNvSpPr txBox="1"/>
          <p:nvPr/>
        </p:nvSpPr>
        <p:spPr>
          <a:xfrm>
            <a:off x="2926080" y="1417320"/>
            <a:ext cx="178308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Data Processing</a:t>
            </a:r>
            <a:endParaRPr lang="en-US" sz="1400" dirty="0"/>
          </a:p>
        </p:txBody>
      </p:sp>
      <p:sp>
        <p:nvSpPr>
          <p:cNvPr id="9" name="txt91"/>
          <p:cNvSpPr txBox="1"/>
          <p:nvPr/>
        </p:nvSpPr>
        <p:spPr>
          <a:xfrm>
            <a:off x="2926080" y="2057400"/>
            <a:ext cx="178308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Clean &amp; validate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Remove duplicates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Load into structures</a:t>
            </a:r>
            <a:endParaRPr lang="en-US" sz="1400" dirty="0"/>
          </a:p>
        </p:txBody>
      </p:sp>
      <p:sp>
        <p:nvSpPr>
          <p:cNvPr id="10" name="arr92"/>
          <p:cNvSpPr/>
          <p:nvPr/>
        </p:nvSpPr>
        <p:spPr>
          <a:xfrm>
            <a:off x="4818888" y="3154680"/>
            <a:ext cx="301752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card93"/>
          <p:cNvSpPr/>
          <p:nvPr/>
        </p:nvSpPr>
        <p:spPr>
          <a:xfrm>
            <a:off x="5120640" y="1371600"/>
            <a:ext cx="1965960" cy="35661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xt94"/>
          <p:cNvSpPr txBox="1"/>
          <p:nvPr/>
        </p:nvSpPr>
        <p:spPr>
          <a:xfrm>
            <a:off x="5212080" y="1417320"/>
            <a:ext cx="178308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Data Structures</a:t>
            </a:r>
            <a:endParaRPr lang="en-US" sz="1400" dirty="0"/>
          </a:p>
        </p:txBody>
      </p:sp>
      <p:sp>
        <p:nvSpPr>
          <p:cNvPr id="13" name="txt95"/>
          <p:cNvSpPr txBox="1"/>
          <p:nvPr/>
        </p:nvSpPr>
        <p:spPr>
          <a:xfrm>
            <a:off x="5212080" y="2057400"/>
            <a:ext cx="178308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Graph (adjacency list)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HashMap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PriorityQueue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ArrayList</a:t>
            </a:r>
            <a:endParaRPr lang="en-US" sz="1400" dirty="0"/>
          </a:p>
        </p:txBody>
      </p:sp>
      <p:sp>
        <p:nvSpPr>
          <p:cNvPr id="14" name="arr96"/>
          <p:cNvSpPr/>
          <p:nvPr/>
        </p:nvSpPr>
        <p:spPr>
          <a:xfrm>
            <a:off x="7104888" y="3154680"/>
            <a:ext cx="301752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card97"/>
          <p:cNvSpPr/>
          <p:nvPr/>
        </p:nvSpPr>
        <p:spPr>
          <a:xfrm>
            <a:off x="7406640" y="1371600"/>
            <a:ext cx="1965960" cy="35661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xt98"/>
          <p:cNvSpPr txBox="1"/>
          <p:nvPr/>
        </p:nvSpPr>
        <p:spPr>
          <a:xfrm>
            <a:off x="7498080" y="1417320"/>
            <a:ext cx="178308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Planning Engine</a:t>
            </a:r>
            <a:endParaRPr lang="en-US" sz="1400" dirty="0"/>
          </a:p>
        </p:txBody>
      </p:sp>
      <p:sp>
        <p:nvSpPr>
          <p:cNvPr id="17" name="txt99"/>
          <p:cNvSpPr txBox="1"/>
          <p:nvPr/>
        </p:nvSpPr>
        <p:spPr>
          <a:xfrm>
            <a:off x="7498080" y="2057400"/>
            <a:ext cx="178308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Important stops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Route builder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Frequency &amp; timetable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Fleet &amp; budget check</a:t>
            </a:r>
            <a:endParaRPr lang="en-US" sz="1400" dirty="0"/>
          </a:p>
        </p:txBody>
      </p:sp>
      <p:sp>
        <p:nvSpPr>
          <p:cNvPr id="18" name="arr100"/>
          <p:cNvSpPr/>
          <p:nvPr/>
        </p:nvSpPr>
        <p:spPr>
          <a:xfrm>
            <a:off x="9390888" y="3154680"/>
            <a:ext cx="301752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card101"/>
          <p:cNvSpPr/>
          <p:nvPr/>
        </p:nvSpPr>
        <p:spPr>
          <a:xfrm>
            <a:off x="9692640" y="1371600"/>
            <a:ext cx="1965960" cy="35661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xt102"/>
          <p:cNvSpPr txBox="1"/>
          <p:nvPr/>
        </p:nvSpPr>
        <p:spPr>
          <a:xfrm>
            <a:off x="9784080" y="1417320"/>
            <a:ext cx="178308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Evaluation &amp; Output</a:t>
            </a:r>
            <a:endParaRPr lang="en-US" sz="1400" dirty="0"/>
          </a:p>
        </p:txBody>
      </p:sp>
      <p:sp>
        <p:nvSpPr>
          <p:cNvPr id="21" name="txt103"/>
          <p:cNvSpPr txBox="1"/>
          <p:nvPr/>
        </p:nvSpPr>
        <p:spPr>
          <a:xfrm>
            <a:off x="9784080" y="2057400"/>
            <a:ext cx="178308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Coverage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Travel time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Fleet use &amp; cost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Final plan</a:t>
            </a:r>
            <a:endParaRPr lang="en-US" sz="1400" dirty="0"/>
          </a:p>
        </p:txBody>
      </p:sp>
      <p:sp>
        <p:nvSpPr>
          <p:cNvPr id="22" name="card104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xt105"/>
          <p:cNvSpPr txBox="1"/>
          <p:nvPr/>
        </p:nvSpPr>
        <p:spPr>
          <a:xfrm>
            <a:off x="640080" y="5303520"/>
            <a:ext cx="1088136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Feedback loop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If budget, fleet, or demand-coverage constraints fail, the plan is adjusted (routes, frequencies, fleet, cost) and re-evaluated.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Hardware &amp; Software Requirements</a:t>
            </a:r>
            <a:endParaRPr lang="en-US" sz="2800" dirty="0"/>
          </a:p>
        </p:txBody>
      </p:sp>
      <p:sp>
        <p:nvSpPr>
          <p:cNvPr id="3" name="card106"/>
          <p:cNvSpPr/>
          <p:nvPr/>
        </p:nvSpPr>
        <p:spPr>
          <a:xfrm>
            <a:off x="548640" y="1325880"/>
            <a:ext cx="6675120" cy="4846320"/>
          </a:xfrm>
          <a:prstGeom prst="roundRect">
            <a:avLst>
              <a:gd name="adj" fmla="val 1509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xt107"/>
          <p:cNvSpPr txBox="1"/>
          <p:nvPr/>
        </p:nvSpPr>
        <p:spPr>
          <a:xfrm>
            <a:off x="640080" y="1371600"/>
            <a:ext cx="649224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Software Requirements</a:t>
            </a:r>
            <a:endParaRPr lang="en-US" sz="1400" dirty="0"/>
          </a:p>
        </p:txBody>
      </p:sp>
      <p:sp>
        <p:nvSpPr>
          <p:cNvPr id="5" name="txt108"/>
          <p:cNvSpPr txBox="1"/>
          <p:nvPr/>
        </p:nvSpPr>
        <p:spPr>
          <a:xfrm>
            <a:off x="731520" y="2011680"/>
            <a:ext cx="6309360" cy="4023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Operating System: </a:t>
            </a:r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Windows 10/11, Linux, or macOS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Language: </a:t>
            </a:r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Java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IDE: </a:t>
            </a:r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Visual Studio Code / IntelliJ IDEA / Eclipse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JDK: </a:t>
            </a:r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JDK 17 or later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Data Storage: </a:t>
            </a:r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CSV/text files for stop and demand data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Libraries: </a:t>
            </a:r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Java standard libraries (Collections, I/O, utilities)</a:t>
            </a:r>
            <a:endParaRPr lang="en-US" sz="2200" dirty="0"/>
          </a:p>
        </p:txBody>
      </p:sp>
      <p:sp>
        <p:nvSpPr>
          <p:cNvPr id="6" name="card109"/>
          <p:cNvSpPr/>
          <p:nvPr/>
        </p:nvSpPr>
        <p:spPr>
          <a:xfrm>
            <a:off x="7543800" y="1325880"/>
            <a:ext cx="4114800" cy="4846320"/>
          </a:xfrm>
          <a:prstGeom prst="roundRect">
            <a:avLst>
              <a:gd name="adj" fmla="val 177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xt110"/>
          <p:cNvSpPr txBox="1"/>
          <p:nvPr/>
        </p:nvSpPr>
        <p:spPr>
          <a:xfrm>
            <a:off x="7635240" y="1371600"/>
            <a:ext cx="393192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Hardware Requirements</a:t>
            </a:r>
            <a:endParaRPr lang="en-US" sz="1400" dirty="0"/>
          </a:p>
        </p:txBody>
      </p:sp>
      <p:sp>
        <p:nvSpPr>
          <p:cNvPr id="8" name="hw111"/>
          <p:cNvSpPr/>
          <p:nvPr/>
        </p:nvSpPr>
        <p:spPr>
          <a:xfrm>
            <a:off x="7772400" y="1965960"/>
            <a:ext cx="36576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xt112"/>
          <p:cNvSpPr txBox="1"/>
          <p:nvPr/>
        </p:nvSpPr>
        <p:spPr>
          <a:xfrm>
            <a:off x="7863840" y="2011680"/>
            <a:ext cx="3474720" cy="1097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Processor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Intel Core i3 or equivalent and above</a:t>
            </a:r>
            <a:endParaRPr lang="en-US" sz="1400" dirty="0"/>
          </a:p>
        </p:txBody>
      </p:sp>
      <p:sp>
        <p:nvSpPr>
          <p:cNvPr id="10" name="hw113"/>
          <p:cNvSpPr/>
          <p:nvPr/>
        </p:nvSpPr>
        <p:spPr>
          <a:xfrm>
            <a:off x="7772400" y="3337560"/>
            <a:ext cx="36576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xt114"/>
          <p:cNvSpPr txBox="1"/>
          <p:nvPr/>
        </p:nvSpPr>
        <p:spPr>
          <a:xfrm>
            <a:off x="7863840" y="3383280"/>
            <a:ext cx="3474720" cy="1097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RAM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Minimum 4 GB (8 GB recommended)</a:t>
            </a:r>
            <a:endParaRPr lang="en-US" sz="1400" dirty="0"/>
          </a:p>
        </p:txBody>
      </p:sp>
      <p:sp>
        <p:nvSpPr>
          <p:cNvPr id="12" name="hw115"/>
          <p:cNvSpPr/>
          <p:nvPr/>
        </p:nvSpPr>
        <p:spPr>
          <a:xfrm>
            <a:off x="7772400" y="4709160"/>
            <a:ext cx="36576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xt116"/>
          <p:cNvSpPr txBox="1"/>
          <p:nvPr/>
        </p:nvSpPr>
        <p:spPr>
          <a:xfrm>
            <a:off x="7863840" y="4754880"/>
            <a:ext cx="3474720" cy="1097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Storage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500 MB free for project and datasets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Final Implementation</a:t>
            </a:r>
            <a:endParaRPr lang="en-US" sz="2800" dirty="0"/>
          </a:p>
        </p:txBody>
      </p:sp>
      <p:sp>
        <p:nvSpPr>
          <p:cNvPr id="3" name="card117"/>
          <p:cNvSpPr/>
          <p:nvPr/>
        </p:nvSpPr>
        <p:spPr>
          <a:xfrm>
            <a:off x="548640" y="1325880"/>
            <a:ext cx="5486400" cy="4846320"/>
          </a:xfrm>
          <a:prstGeom prst="roundRect">
            <a:avLst>
              <a:gd name="adj" fmla="val 1509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xt118"/>
          <p:cNvSpPr txBox="1"/>
          <p:nvPr/>
        </p:nvSpPr>
        <p:spPr>
          <a:xfrm>
            <a:off x="640080" y="1371600"/>
            <a:ext cx="530352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What was built</a:t>
            </a:r>
            <a:endParaRPr lang="en-US" sz="1400" dirty="0"/>
          </a:p>
        </p:txBody>
      </p:sp>
      <p:sp>
        <p:nvSpPr>
          <p:cNvPr id="5" name="txt119"/>
          <p:cNvSpPr txBox="1"/>
          <p:nvPr/>
        </p:nvSpPr>
        <p:spPr>
          <a:xfrm>
            <a:off x="731520" y="2011680"/>
            <a:ext cx="5120640" cy="4023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Java application that reads stops, routes, and demand from CSV/text files.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Builds the transit graph with travel-time weighted edges.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Ranks stops by demand and selects key stops.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Constructs routes with shortest paths and allocates buses.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Assigns frequencies and departure times within budget.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Prints a plan with coverage, travel time, fleet use, and cost.</a:t>
            </a:r>
            <a:endParaRPr lang="en-US" sz="1800" dirty="0"/>
          </a:p>
        </p:txBody>
      </p:sp>
      <p:sp>
        <p:nvSpPr>
          <p:cNvPr id="6" name="txt120"/>
          <p:cNvSpPr txBox="1"/>
          <p:nvPr/>
        </p:nvSpPr>
        <p:spPr>
          <a:xfrm>
            <a:off x="6355080" y="1280160"/>
            <a:ext cx="530352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used</a:t>
            </a:r>
            <a:endParaRPr lang="en-US" sz="2000" dirty="0"/>
          </a:p>
        </p:txBody>
      </p:sp>
      <p:sp>
        <p:nvSpPr>
          <p:cNvPr id="7" name="card121"/>
          <p:cNvSpPr/>
          <p:nvPr/>
        </p:nvSpPr>
        <p:spPr>
          <a:xfrm>
            <a:off x="6355080" y="1828800"/>
            <a:ext cx="53035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xt122"/>
          <p:cNvSpPr txBox="1"/>
          <p:nvPr/>
        </p:nvSpPr>
        <p:spPr>
          <a:xfrm>
            <a:off x="6446520" y="1874520"/>
            <a:ext cx="51206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Graph (adjacency list)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Stops and travel connections</a:t>
            </a:r>
            <a:endParaRPr lang="en-US" sz="1400" dirty="0"/>
          </a:p>
        </p:txBody>
      </p:sp>
      <p:sp>
        <p:nvSpPr>
          <p:cNvPr id="9" name="card123"/>
          <p:cNvSpPr/>
          <p:nvPr/>
        </p:nvSpPr>
        <p:spPr>
          <a:xfrm>
            <a:off x="6355080" y="2926080"/>
            <a:ext cx="53035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xt124"/>
          <p:cNvSpPr txBox="1"/>
          <p:nvPr/>
        </p:nvSpPr>
        <p:spPr>
          <a:xfrm>
            <a:off x="6446520" y="2971800"/>
            <a:ext cx="51206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HashMap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Fast stop-to-demand and stop-to-info lookup</a:t>
            </a:r>
            <a:endParaRPr lang="en-US" sz="1400" dirty="0"/>
          </a:p>
        </p:txBody>
      </p:sp>
      <p:sp>
        <p:nvSpPr>
          <p:cNvPr id="11" name="card125"/>
          <p:cNvSpPr/>
          <p:nvPr/>
        </p:nvSpPr>
        <p:spPr>
          <a:xfrm>
            <a:off x="6355080" y="4023360"/>
            <a:ext cx="53035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xt126"/>
          <p:cNvSpPr txBox="1"/>
          <p:nvPr/>
        </p:nvSpPr>
        <p:spPr>
          <a:xfrm>
            <a:off x="6446520" y="4069080"/>
            <a:ext cx="51206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PriorityQueue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Rank high-demand stops; Dijkstra</a:t>
            </a:r>
            <a:endParaRPr lang="en-US" sz="1400" dirty="0"/>
          </a:p>
        </p:txBody>
      </p:sp>
      <p:sp>
        <p:nvSpPr>
          <p:cNvPr id="13" name="card127"/>
          <p:cNvSpPr/>
          <p:nvPr/>
        </p:nvSpPr>
        <p:spPr>
          <a:xfrm>
            <a:off x="6355080" y="5120640"/>
            <a:ext cx="53035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xt128"/>
          <p:cNvSpPr txBox="1"/>
          <p:nvPr/>
        </p:nvSpPr>
        <p:spPr>
          <a:xfrm>
            <a:off x="6446520" y="5166360"/>
            <a:ext cx="51206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ArrayList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Routes, timetables, departures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Modules</a:t>
            </a:r>
            <a:endParaRPr lang="en-US" sz="2800" dirty="0"/>
          </a:p>
        </p:txBody>
      </p:sp>
      <p:sp>
        <p:nvSpPr>
          <p:cNvPr id="3" name="card129"/>
          <p:cNvSpPr/>
          <p:nvPr/>
        </p:nvSpPr>
        <p:spPr>
          <a:xfrm>
            <a:off x="548640" y="1325880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xt130"/>
          <p:cNvSpPr txBox="1"/>
          <p:nvPr/>
        </p:nvSpPr>
        <p:spPr>
          <a:xfrm>
            <a:off x="640080" y="1371600"/>
            <a:ext cx="33832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1. Data Processing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Reads and cleans stop, route, and demand files.</a:t>
            </a:r>
            <a:endParaRPr lang="en-US" sz="1400" dirty="0"/>
          </a:p>
        </p:txBody>
      </p:sp>
      <p:sp>
        <p:nvSpPr>
          <p:cNvPr id="5" name="card131"/>
          <p:cNvSpPr/>
          <p:nvPr/>
        </p:nvSpPr>
        <p:spPr>
          <a:xfrm>
            <a:off x="4297680" y="1325880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xt132"/>
          <p:cNvSpPr txBox="1"/>
          <p:nvPr/>
        </p:nvSpPr>
        <p:spPr>
          <a:xfrm>
            <a:off x="4389120" y="1371600"/>
            <a:ext cx="33832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2. Network Graph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Builds vertices and weighted edges.</a:t>
            </a:r>
            <a:endParaRPr lang="en-US" sz="1400" dirty="0"/>
          </a:p>
        </p:txBody>
      </p:sp>
      <p:sp>
        <p:nvSpPr>
          <p:cNvPr id="7" name="card133"/>
          <p:cNvSpPr/>
          <p:nvPr/>
        </p:nvSpPr>
        <p:spPr>
          <a:xfrm>
            <a:off x="8046720" y="1325880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xt134"/>
          <p:cNvSpPr txBox="1"/>
          <p:nvPr/>
        </p:nvSpPr>
        <p:spPr>
          <a:xfrm>
            <a:off x="8138160" y="1371600"/>
            <a:ext cx="33832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3. Stop Prioritization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Scores demand; picks key stops and links.</a:t>
            </a:r>
            <a:endParaRPr lang="en-US" sz="1400" dirty="0"/>
          </a:p>
        </p:txBody>
      </p:sp>
      <p:sp>
        <p:nvSpPr>
          <p:cNvPr id="9" name="card135"/>
          <p:cNvSpPr/>
          <p:nvPr/>
        </p:nvSpPr>
        <p:spPr>
          <a:xfrm>
            <a:off x="548640" y="3794760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xt136"/>
          <p:cNvSpPr txBox="1"/>
          <p:nvPr/>
        </p:nvSpPr>
        <p:spPr>
          <a:xfrm>
            <a:off x="640080" y="3840480"/>
            <a:ext cx="33832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4. Route Planning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Builds feasible routes between key stops.</a:t>
            </a:r>
            <a:endParaRPr lang="en-US" sz="1400" dirty="0"/>
          </a:p>
        </p:txBody>
      </p:sp>
      <p:sp>
        <p:nvSpPr>
          <p:cNvPr id="11" name="card137"/>
          <p:cNvSpPr/>
          <p:nvPr/>
        </p:nvSpPr>
        <p:spPr>
          <a:xfrm>
            <a:off x="4297680" y="3794760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xt138"/>
          <p:cNvSpPr txBox="1"/>
          <p:nvPr/>
        </p:nvSpPr>
        <p:spPr>
          <a:xfrm>
            <a:off x="4389120" y="3840480"/>
            <a:ext cx="33832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5. Scheduling &amp; Resources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Frequencies, departures, fleet and budget checks.</a:t>
            </a:r>
            <a:endParaRPr lang="en-US" sz="1400" dirty="0"/>
          </a:p>
        </p:txBody>
      </p:sp>
      <p:sp>
        <p:nvSpPr>
          <p:cNvPr id="13" name="card139"/>
          <p:cNvSpPr/>
          <p:nvPr/>
        </p:nvSpPr>
        <p:spPr>
          <a:xfrm>
            <a:off x="8046720" y="3794760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xt140"/>
          <p:cNvSpPr txBox="1"/>
          <p:nvPr/>
        </p:nvSpPr>
        <p:spPr>
          <a:xfrm>
            <a:off x="8138160" y="3840480"/>
            <a:ext cx="33832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6. Performance Evaluation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Coverage, travel time, fleet use, cost.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Algorithm</a:t>
            </a:r>
            <a:endParaRPr lang="en-US" sz="2800" dirty="0"/>
          </a:p>
        </p:txBody>
      </p:sp>
      <p:sp>
        <p:nvSpPr>
          <p:cNvPr id="3" name="num141"/>
          <p:cNvSpPr/>
          <p:nvPr/>
        </p:nvSpPr>
        <p:spPr>
          <a:xfrm>
            <a:off x="548640" y="128016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umt141"/>
          <p:cNvSpPr txBox="1"/>
          <p:nvPr/>
        </p:nvSpPr>
        <p:spPr>
          <a:xfrm>
            <a:off x="548640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xt142"/>
          <p:cNvSpPr txBox="1"/>
          <p:nvPr/>
        </p:nvSpPr>
        <p:spPr>
          <a:xfrm>
            <a:off x="1097280" y="1234440"/>
            <a:ext cx="67665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Read and clean stop, route, and demand data.</a:t>
            </a:r>
            <a:endParaRPr lang="en-US" sz="1700" dirty="0"/>
          </a:p>
        </p:txBody>
      </p:sp>
      <p:sp>
        <p:nvSpPr>
          <p:cNvPr id="6" name="num143"/>
          <p:cNvSpPr/>
          <p:nvPr/>
        </p:nvSpPr>
        <p:spPr>
          <a:xfrm>
            <a:off x="548640" y="189280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umt143"/>
          <p:cNvSpPr txBox="1"/>
          <p:nvPr/>
        </p:nvSpPr>
        <p:spPr>
          <a:xfrm>
            <a:off x="548640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xt144"/>
          <p:cNvSpPr txBox="1"/>
          <p:nvPr/>
        </p:nvSpPr>
        <p:spPr>
          <a:xfrm>
            <a:off x="1097280" y="1847088"/>
            <a:ext cx="67665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Build graph G(V, E) with travel-time weights.</a:t>
            </a:r>
            <a:endParaRPr lang="en-US" sz="1700" dirty="0"/>
          </a:p>
        </p:txBody>
      </p:sp>
      <p:sp>
        <p:nvSpPr>
          <p:cNvPr id="9" name="num145"/>
          <p:cNvSpPr/>
          <p:nvPr/>
        </p:nvSpPr>
        <p:spPr>
          <a:xfrm>
            <a:off x="548640" y="250545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t145"/>
          <p:cNvSpPr txBox="1"/>
          <p:nvPr/>
        </p:nvSpPr>
        <p:spPr>
          <a:xfrm>
            <a:off x="548640" y="2505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xt146"/>
          <p:cNvSpPr txBox="1"/>
          <p:nvPr/>
        </p:nvSpPr>
        <p:spPr>
          <a:xfrm>
            <a:off x="1097280" y="2459736"/>
            <a:ext cx="67665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Score each stop by demand; push into a priority queue.</a:t>
            </a:r>
            <a:endParaRPr lang="en-US" sz="1700" dirty="0"/>
          </a:p>
        </p:txBody>
      </p:sp>
      <p:sp>
        <p:nvSpPr>
          <p:cNvPr id="12" name="num147"/>
          <p:cNvSpPr/>
          <p:nvPr/>
        </p:nvSpPr>
        <p:spPr>
          <a:xfrm>
            <a:off x="548640" y="3118104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umt147"/>
          <p:cNvSpPr txBox="1"/>
          <p:nvPr/>
        </p:nvSpPr>
        <p:spPr>
          <a:xfrm>
            <a:off x="548640" y="3118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xt148"/>
          <p:cNvSpPr txBox="1"/>
          <p:nvPr/>
        </p:nvSpPr>
        <p:spPr>
          <a:xfrm>
            <a:off x="1097280" y="3072384"/>
            <a:ext cx="67665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Select the top-ranked stops as key stops.</a:t>
            </a:r>
            <a:endParaRPr lang="en-US" sz="1700" dirty="0"/>
          </a:p>
        </p:txBody>
      </p:sp>
      <p:sp>
        <p:nvSpPr>
          <p:cNvPr id="15" name="num149"/>
          <p:cNvSpPr/>
          <p:nvPr/>
        </p:nvSpPr>
        <p:spPr>
          <a:xfrm>
            <a:off x="548640" y="373075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t149"/>
          <p:cNvSpPr txBox="1"/>
          <p:nvPr/>
        </p:nvSpPr>
        <p:spPr>
          <a:xfrm>
            <a:off x="548640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xt150"/>
          <p:cNvSpPr txBox="1"/>
          <p:nvPr/>
        </p:nvSpPr>
        <p:spPr>
          <a:xfrm>
            <a:off x="1097280" y="3685032"/>
            <a:ext cx="67665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Run Dijkstra between key stops for candidate routes.</a:t>
            </a:r>
            <a:endParaRPr lang="en-US" sz="1700" dirty="0"/>
          </a:p>
        </p:txBody>
      </p:sp>
      <p:sp>
        <p:nvSpPr>
          <p:cNvPr id="18" name="num151"/>
          <p:cNvSpPr/>
          <p:nvPr/>
        </p:nvSpPr>
        <p:spPr>
          <a:xfrm>
            <a:off x="548640" y="434340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numt151"/>
          <p:cNvSpPr txBox="1"/>
          <p:nvPr/>
        </p:nvSpPr>
        <p:spPr>
          <a:xfrm>
            <a:off x="548640" y="4343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xt152"/>
          <p:cNvSpPr txBox="1"/>
          <p:nvPr/>
        </p:nvSpPr>
        <p:spPr>
          <a:xfrm>
            <a:off x="1097280" y="4297680"/>
            <a:ext cx="67665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Choose routes by demand served per cost until fleet or budget limit.</a:t>
            </a:r>
            <a:endParaRPr lang="en-US" sz="1700" dirty="0"/>
          </a:p>
        </p:txBody>
      </p:sp>
      <p:sp>
        <p:nvSpPr>
          <p:cNvPr id="21" name="num153"/>
          <p:cNvSpPr/>
          <p:nvPr/>
        </p:nvSpPr>
        <p:spPr>
          <a:xfrm>
            <a:off x="548640" y="495604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t153"/>
          <p:cNvSpPr txBox="1"/>
          <p:nvPr/>
        </p:nvSpPr>
        <p:spPr>
          <a:xfrm>
            <a:off x="548640" y="4956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txt154"/>
          <p:cNvSpPr txBox="1"/>
          <p:nvPr/>
        </p:nvSpPr>
        <p:spPr>
          <a:xfrm>
            <a:off x="1097280" y="4910328"/>
            <a:ext cx="67665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Set frequency from route demand and bus capacity; create departures.</a:t>
            </a:r>
            <a:endParaRPr lang="en-US" sz="1700" dirty="0"/>
          </a:p>
        </p:txBody>
      </p:sp>
      <p:sp>
        <p:nvSpPr>
          <p:cNvPr id="24" name="num155"/>
          <p:cNvSpPr/>
          <p:nvPr/>
        </p:nvSpPr>
        <p:spPr>
          <a:xfrm>
            <a:off x="548640" y="556869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numt155"/>
          <p:cNvSpPr txBox="1"/>
          <p:nvPr/>
        </p:nvSpPr>
        <p:spPr>
          <a:xfrm>
            <a:off x="548640" y="5568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26" name="txt156"/>
          <p:cNvSpPr txBox="1"/>
          <p:nvPr/>
        </p:nvSpPr>
        <p:spPr>
          <a:xfrm>
            <a:off x="1097280" y="5522976"/>
            <a:ext cx="67665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Evaluate the plan. If constraints fail, adjust and repeat.</a:t>
            </a:r>
            <a:endParaRPr lang="en-US" sz="1700" dirty="0"/>
          </a:p>
        </p:txBody>
      </p:sp>
      <p:sp>
        <p:nvSpPr>
          <p:cNvPr id="27" name="card157"/>
          <p:cNvSpPr/>
          <p:nvPr/>
        </p:nvSpPr>
        <p:spPr>
          <a:xfrm>
            <a:off x="8046720" y="1325880"/>
            <a:ext cx="36118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txt158"/>
          <p:cNvSpPr txBox="1"/>
          <p:nvPr/>
        </p:nvSpPr>
        <p:spPr>
          <a:xfrm>
            <a:off x="8138160" y="1371600"/>
            <a:ext cx="342900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Dijkstra</a:t>
            </a:r>
            <a:endParaRPr lang="en-US" sz="1400" dirty="0"/>
          </a:p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O((V + E) log V)</a:t>
            </a:r>
            <a:endParaRPr lang="en-US" sz="1400" dirty="0"/>
          </a:p>
        </p:txBody>
      </p:sp>
      <p:sp>
        <p:nvSpPr>
          <p:cNvPr id="29" name="card159"/>
          <p:cNvSpPr/>
          <p:nvPr/>
        </p:nvSpPr>
        <p:spPr>
          <a:xfrm>
            <a:off x="8046720" y="2926080"/>
            <a:ext cx="36118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xt160"/>
          <p:cNvSpPr txBox="1"/>
          <p:nvPr/>
        </p:nvSpPr>
        <p:spPr>
          <a:xfrm>
            <a:off x="8138160" y="2971800"/>
            <a:ext cx="342900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Stop ranking (heap)</a:t>
            </a:r>
            <a:endParaRPr lang="en-US" sz="1400" dirty="0"/>
          </a:p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O(V log V)</a:t>
            </a:r>
            <a:endParaRPr lang="en-US" sz="1400" dirty="0"/>
          </a:p>
        </p:txBody>
      </p:sp>
      <p:sp>
        <p:nvSpPr>
          <p:cNvPr id="31" name="card161"/>
          <p:cNvSpPr/>
          <p:nvPr/>
        </p:nvSpPr>
        <p:spPr>
          <a:xfrm>
            <a:off x="8046720" y="4526280"/>
            <a:ext cx="36118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2" name="txt162"/>
          <p:cNvSpPr txBox="1"/>
          <p:nvPr/>
        </p:nvSpPr>
        <p:spPr>
          <a:xfrm>
            <a:off x="8138160" y="4572000"/>
            <a:ext cx="342900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HashMap lookup</a:t>
            </a:r>
            <a:endParaRPr lang="en-US" sz="1400" dirty="0"/>
          </a:p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O(1) average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Code / Implementation</a:t>
            </a:r>
            <a:endParaRPr lang="en-US" sz="2800" dirty="0"/>
          </a:p>
        </p:txBody>
      </p:sp>
      <p:sp>
        <p:nvSpPr>
          <p:cNvPr id="3" name="codepanel"/>
          <p:cNvSpPr/>
          <p:nvPr/>
        </p:nvSpPr>
        <p:spPr>
          <a:xfrm>
            <a:off x="548640" y="1280160"/>
            <a:ext cx="7315200" cy="4983480"/>
          </a:xfrm>
          <a:prstGeom prst="roundRect">
            <a:avLst>
              <a:gd name="adj" fmla="val 146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xt163"/>
          <p:cNvSpPr txBox="1"/>
          <p:nvPr/>
        </p:nvSpPr>
        <p:spPr>
          <a:xfrm>
            <a:off x="685800" y="1371600"/>
            <a:ext cx="70408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Edge { int to; double time;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Map&lt;Integer, List&lt;Edge&gt;&gt; graph = new HashMap&lt;&gt;();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double[] dijkstra(int src, int n)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double[] dist = new double[n];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Arrays.fill(dist, Double.MAX_VALUE);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PriorityQueue&lt;double[]&gt; pq = new PriorityQueue&lt;&gt;(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(a, b) -&gt; Double.compare(a[1], b[1]));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dist[src] = 0; pq.add(new double[]{src, 0});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(!pq.isEmpty())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double[] cur = pq.poll(); int u = (int) cur[0];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(cur[1] &gt; dist[u]) continue;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(Edge e : graph.getOrDefault(u, List.of()))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(dist[u] + e.time &lt; dist[e.to])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dist[e.to] = dist[u] + e.time;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pq.add(new double[]{e.to, dist[e.to]});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dist;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card164"/>
          <p:cNvSpPr/>
          <p:nvPr/>
        </p:nvSpPr>
        <p:spPr>
          <a:xfrm>
            <a:off x="8183880" y="1280160"/>
            <a:ext cx="3474720" cy="498348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xt165"/>
          <p:cNvSpPr txBox="1"/>
          <p:nvPr/>
        </p:nvSpPr>
        <p:spPr>
          <a:xfrm>
            <a:off x="8275320" y="1325880"/>
            <a:ext cx="3291840" cy="4892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Core logic</a:t>
            </a:r>
            <a:endParaRPr lang="en-US" sz="1400" dirty="0"/>
          </a:p>
        </p:txBody>
      </p:sp>
      <p:sp>
        <p:nvSpPr>
          <p:cNvPr id="7" name="txt166"/>
          <p:cNvSpPr txBox="1"/>
          <p:nvPr/>
        </p:nvSpPr>
        <p:spPr>
          <a:xfrm>
            <a:off x="8321040" y="1828800"/>
            <a:ext cx="3200400" cy="4297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Graph stored as an adjacency list in a HashMap.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PriorityQueue always expands the nearest unvisited stop.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Returns shortest travel time from one stop to all others.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Used to build routes between key stops.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Testing</a:t>
            </a:r>
            <a:endParaRPr lang="en-US" sz="2800" dirty="0"/>
          </a:p>
        </p:txBody>
      </p:sp>
      <p:graphicFrame>
        <p:nvGraphicFramePr>
          <p:cNvPr id="14" name="tes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486400"/>
                <a:gridCol w="32918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Test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What was checked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Expected outcome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Data cleaning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Missing, duplicate, and invalid stop or demand records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Invalid records removed or flagged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Graph construction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All stops and edges loaded with correct weights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Graph matches the input files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Shortest path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Dijkstra on a small network vs. manual calculation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Same paths and travel times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Constraints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Buses used and total cost vs. limits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Fleet and budget never exceeded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Edge cases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Disconnected stops, zero demand, very small budget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Handled without failure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End-to-end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Full run from input files to final report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Complete plan and metrics produced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Results</a:t>
            </a:r>
            <a:endParaRPr lang="en-US" sz="2800" dirty="0"/>
          </a:p>
        </p:txBody>
      </p:sp>
      <p:sp>
        <p:nvSpPr>
          <p:cNvPr id="3" name="card167"/>
          <p:cNvSpPr/>
          <p:nvPr/>
        </p:nvSpPr>
        <p:spPr>
          <a:xfrm>
            <a:off x="548640" y="132588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xt168"/>
          <p:cNvSpPr txBox="1"/>
          <p:nvPr/>
        </p:nvSpPr>
        <p:spPr>
          <a:xfrm>
            <a:off x="640080" y="1371600"/>
            <a:ext cx="525780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num169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t169"/>
          <p:cNvSpPr txBox="1"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xt170"/>
          <p:cNvSpPr txBox="1"/>
          <p:nvPr/>
        </p:nvSpPr>
        <p:spPr>
          <a:xfrm>
            <a:off x="1371600" y="1417320"/>
            <a:ext cx="448056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Represented the public transport network using graphs.</a:t>
            </a:r>
            <a:endParaRPr lang="en-US" sz="1900" dirty="0"/>
          </a:p>
        </p:txBody>
      </p:sp>
      <p:sp>
        <p:nvSpPr>
          <p:cNvPr id="8" name="card171"/>
          <p:cNvSpPr/>
          <p:nvPr/>
        </p:nvSpPr>
        <p:spPr>
          <a:xfrm>
            <a:off x="6172200" y="132588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xt172"/>
          <p:cNvSpPr txBox="1"/>
          <p:nvPr/>
        </p:nvSpPr>
        <p:spPr>
          <a:xfrm>
            <a:off x="6263640" y="1371600"/>
            <a:ext cx="525780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num173"/>
          <p:cNvSpPr/>
          <p:nvPr/>
        </p:nvSpPr>
        <p:spPr>
          <a:xfrm>
            <a:off x="6400800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umt173"/>
          <p:cNvSpPr txBox="1"/>
          <p:nvPr/>
        </p:nvSpPr>
        <p:spPr>
          <a:xfrm>
            <a:off x="64008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xt174"/>
          <p:cNvSpPr txBox="1"/>
          <p:nvPr/>
        </p:nvSpPr>
        <p:spPr>
          <a:xfrm>
            <a:off x="6995160" y="1417320"/>
            <a:ext cx="448056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Identified high-demand stops and important connections.</a:t>
            </a:r>
            <a:endParaRPr lang="en-US" sz="1900" dirty="0"/>
          </a:p>
        </p:txBody>
      </p:sp>
      <p:sp>
        <p:nvSpPr>
          <p:cNvPr id="13" name="card175"/>
          <p:cNvSpPr/>
          <p:nvPr/>
        </p:nvSpPr>
        <p:spPr>
          <a:xfrm>
            <a:off x="548640" y="297180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xt176"/>
          <p:cNvSpPr txBox="1"/>
          <p:nvPr/>
        </p:nvSpPr>
        <p:spPr>
          <a:xfrm>
            <a:off x="640080" y="3017520"/>
            <a:ext cx="525780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5" name="num177"/>
          <p:cNvSpPr/>
          <p:nvPr/>
        </p:nvSpPr>
        <p:spPr>
          <a:xfrm>
            <a:off x="777240" y="3474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t177"/>
          <p:cNvSpPr txBox="1"/>
          <p:nvPr/>
        </p:nvSpPr>
        <p:spPr>
          <a:xfrm>
            <a:off x="7772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7" name="txt178"/>
          <p:cNvSpPr txBox="1"/>
          <p:nvPr/>
        </p:nvSpPr>
        <p:spPr>
          <a:xfrm>
            <a:off x="1371600" y="3063240"/>
            <a:ext cx="448056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Generated feasible routes using demand, connectivity, fleet, and budget.</a:t>
            </a:r>
            <a:endParaRPr lang="en-US" sz="1900" dirty="0"/>
          </a:p>
        </p:txBody>
      </p:sp>
      <p:sp>
        <p:nvSpPr>
          <p:cNvPr id="18" name="card179"/>
          <p:cNvSpPr/>
          <p:nvPr/>
        </p:nvSpPr>
        <p:spPr>
          <a:xfrm>
            <a:off x="6172200" y="297180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xt180"/>
          <p:cNvSpPr txBox="1"/>
          <p:nvPr/>
        </p:nvSpPr>
        <p:spPr>
          <a:xfrm>
            <a:off x="6263640" y="3017520"/>
            <a:ext cx="525780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0" name="num181"/>
          <p:cNvSpPr/>
          <p:nvPr/>
        </p:nvSpPr>
        <p:spPr>
          <a:xfrm>
            <a:off x="6400800" y="3474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numt181"/>
          <p:cNvSpPr txBox="1"/>
          <p:nvPr/>
        </p:nvSpPr>
        <p:spPr>
          <a:xfrm>
            <a:off x="64008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xt182"/>
          <p:cNvSpPr txBox="1"/>
          <p:nvPr/>
        </p:nvSpPr>
        <p:spPr>
          <a:xfrm>
            <a:off x="6995160" y="3063240"/>
            <a:ext cx="448056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Created suitable service frequencies and departure timetables.</a:t>
            </a:r>
            <a:endParaRPr lang="en-US" sz="1900" dirty="0"/>
          </a:p>
        </p:txBody>
      </p:sp>
      <p:sp>
        <p:nvSpPr>
          <p:cNvPr id="23" name="card183"/>
          <p:cNvSpPr/>
          <p:nvPr/>
        </p:nvSpPr>
        <p:spPr>
          <a:xfrm>
            <a:off x="548640" y="461772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xt184"/>
          <p:cNvSpPr txBox="1"/>
          <p:nvPr/>
        </p:nvSpPr>
        <p:spPr>
          <a:xfrm>
            <a:off x="640080" y="4663440"/>
            <a:ext cx="525780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num185"/>
          <p:cNvSpPr/>
          <p:nvPr/>
        </p:nvSpPr>
        <p:spPr>
          <a:xfrm>
            <a:off x="777240" y="5120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numt185"/>
          <p:cNvSpPr txBox="1"/>
          <p:nvPr/>
        </p:nvSpPr>
        <p:spPr>
          <a:xfrm>
            <a:off x="7772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27" name="txt186"/>
          <p:cNvSpPr txBox="1"/>
          <p:nvPr/>
        </p:nvSpPr>
        <p:spPr>
          <a:xfrm>
            <a:off x="1371600" y="4709160"/>
            <a:ext cx="448056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Improved measurement of demand coverage across important stops.</a:t>
            </a:r>
            <a:endParaRPr lang="en-US" sz="1900" dirty="0"/>
          </a:p>
        </p:txBody>
      </p:sp>
      <p:sp>
        <p:nvSpPr>
          <p:cNvPr id="28" name="card187"/>
          <p:cNvSpPr/>
          <p:nvPr/>
        </p:nvSpPr>
        <p:spPr>
          <a:xfrm>
            <a:off x="6172200" y="461772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xt188"/>
          <p:cNvSpPr txBox="1"/>
          <p:nvPr/>
        </p:nvSpPr>
        <p:spPr>
          <a:xfrm>
            <a:off x="6263640" y="4663440"/>
            <a:ext cx="525780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0" name="num189"/>
          <p:cNvSpPr/>
          <p:nvPr/>
        </p:nvSpPr>
        <p:spPr>
          <a:xfrm>
            <a:off x="6400800" y="5120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numt189"/>
          <p:cNvSpPr txBox="1"/>
          <p:nvPr/>
        </p:nvSpPr>
        <p:spPr>
          <a:xfrm>
            <a:off x="640080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32" name="txt190"/>
          <p:cNvSpPr txBox="1"/>
          <p:nvPr/>
        </p:nvSpPr>
        <p:spPr>
          <a:xfrm>
            <a:off x="6995160" y="4709160"/>
            <a:ext cx="448056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Calculated average passenger travel time for generated routes.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Performance Analysis</a:t>
            </a:r>
            <a:endParaRPr lang="en-US" sz="2800" dirty="0"/>
          </a:p>
        </p:txBody>
      </p:sp>
      <p:sp>
        <p:nvSpPr>
          <p:cNvPr id="3" name="card191"/>
          <p:cNvSpPr/>
          <p:nvPr/>
        </p:nvSpPr>
        <p:spPr>
          <a:xfrm>
            <a:off x="548640" y="13258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xt192"/>
          <p:cNvSpPr txBox="1"/>
          <p:nvPr/>
        </p:nvSpPr>
        <p:spPr>
          <a:xfrm>
            <a:off x="640080" y="1371600"/>
            <a:ext cx="246888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Demand coverage</a:t>
            </a:r>
            <a:endParaRPr lang="en-US" sz="14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Demand served ÷ total demand</a:t>
            </a:r>
            <a:endParaRPr lang="en-US" sz="1400" dirty="0"/>
          </a:p>
        </p:txBody>
      </p:sp>
      <p:sp>
        <p:nvSpPr>
          <p:cNvPr id="5" name="card193"/>
          <p:cNvSpPr/>
          <p:nvPr/>
        </p:nvSpPr>
        <p:spPr>
          <a:xfrm>
            <a:off x="3337560" y="13258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xt194"/>
          <p:cNvSpPr txBox="1"/>
          <p:nvPr/>
        </p:nvSpPr>
        <p:spPr>
          <a:xfrm>
            <a:off x="3429000" y="1371600"/>
            <a:ext cx="246888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Avg. travel time</a:t>
            </a:r>
            <a:endParaRPr lang="en-US" sz="14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Demand-weighted travel time</a:t>
            </a:r>
            <a:endParaRPr lang="en-US" sz="1400" dirty="0"/>
          </a:p>
        </p:txBody>
      </p:sp>
      <p:sp>
        <p:nvSpPr>
          <p:cNvPr id="7" name="card195"/>
          <p:cNvSpPr/>
          <p:nvPr/>
        </p:nvSpPr>
        <p:spPr>
          <a:xfrm>
            <a:off x="6126480" y="13258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xt196"/>
          <p:cNvSpPr txBox="1"/>
          <p:nvPr/>
        </p:nvSpPr>
        <p:spPr>
          <a:xfrm>
            <a:off x="6217920" y="1371600"/>
            <a:ext cx="246888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Fleet utilization</a:t>
            </a:r>
            <a:endParaRPr lang="en-US" sz="14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Buses used ÷ buses available</a:t>
            </a:r>
            <a:endParaRPr lang="en-US" sz="1400" dirty="0"/>
          </a:p>
        </p:txBody>
      </p:sp>
      <p:sp>
        <p:nvSpPr>
          <p:cNvPr id="9" name="card197"/>
          <p:cNvSpPr/>
          <p:nvPr/>
        </p:nvSpPr>
        <p:spPr>
          <a:xfrm>
            <a:off x="8915400" y="13258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xt198"/>
          <p:cNvSpPr txBox="1"/>
          <p:nvPr/>
        </p:nvSpPr>
        <p:spPr>
          <a:xfrm>
            <a:off x="9006840" y="1371600"/>
            <a:ext cx="246888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Operating cost</a:t>
            </a:r>
            <a:endParaRPr lang="en-US" sz="14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Total route cost ≤ budget</a:t>
            </a:r>
            <a:endParaRPr lang="en-US" sz="1400" dirty="0"/>
          </a:p>
        </p:txBody>
      </p:sp>
      <p:graphicFrame>
        <p:nvGraphicFramePr>
          <p:cNvPr id="16" name="complexit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65836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Operation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Time complexity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Graph construction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O(V + E)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Stop ranking (priority queue)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O(V log V)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Shortest path (Dijkstra)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O((V + E) log V)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Demand lookup (HashMap)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O(1) average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card199"/>
          <p:cNvSpPr/>
          <p:nvPr/>
        </p:nvSpPr>
        <p:spPr>
          <a:xfrm>
            <a:off x="7498080" y="3291840"/>
            <a:ext cx="416052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xt200"/>
          <p:cNvSpPr txBox="1"/>
          <p:nvPr/>
        </p:nvSpPr>
        <p:spPr>
          <a:xfrm>
            <a:off x="7589520" y="3337560"/>
            <a:ext cx="3977640" cy="2651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Takeaway</a:t>
            </a:r>
            <a:endParaRPr lang="en-US" sz="14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Running time is dominated by the shortest-path computations between key stops. Every plan is scored on all four measures, so trade-offs between coverage, time, fleet, and cost are visible.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card201"/>
          <p:cNvSpPr/>
          <p:nvPr/>
        </p:nvSpPr>
        <p:spPr>
          <a:xfrm>
            <a:off x="548640" y="1325880"/>
            <a:ext cx="54406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xt202"/>
          <p:cNvSpPr txBox="1"/>
          <p:nvPr/>
        </p:nvSpPr>
        <p:spPr>
          <a:xfrm>
            <a:off x="640080" y="1371600"/>
            <a:ext cx="525780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Efficient planning</a:t>
            </a:r>
            <a:endParaRPr lang="en-US" sz="14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Designs public transport routes and timetables.</a:t>
            </a:r>
            <a:endParaRPr lang="en-US" sz="1400" dirty="0"/>
          </a:p>
        </p:txBody>
      </p:sp>
      <p:sp>
        <p:nvSpPr>
          <p:cNvPr id="5" name="card203"/>
          <p:cNvSpPr/>
          <p:nvPr/>
        </p:nvSpPr>
        <p:spPr>
          <a:xfrm>
            <a:off x="6172200" y="1325880"/>
            <a:ext cx="54406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xt204"/>
          <p:cNvSpPr txBox="1"/>
          <p:nvPr/>
        </p:nvSpPr>
        <p:spPr>
          <a:xfrm>
            <a:off x="6263640" y="1371600"/>
            <a:ext cx="525780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Right data structures</a:t>
            </a:r>
            <a:endParaRPr lang="en-US" sz="14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Graphs, priority queues, lists, and hash maps manage transport data effectively.</a:t>
            </a:r>
            <a:endParaRPr lang="en-US" sz="1400" dirty="0"/>
          </a:p>
        </p:txBody>
      </p:sp>
      <p:sp>
        <p:nvSpPr>
          <p:cNvPr id="7" name="card205"/>
          <p:cNvSpPr/>
          <p:nvPr/>
        </p:nvSpPr>
        <p:spPr>
          <a:xfrm>
            <a:off x="548640" y="3794760"/>
            <a:ext cx="54406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xt206"/>
          <p:cNvSpPr txBox="1"/>
          <p:nvPr/>
        </p:nvSpPr>
        <p:spPr>
          <a:xfrm>
            <a:off x="640080" y="3840480"/>
            <a:ext cx="525780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Real constraints</a:t>
            </a:r>
            <a:endParaRPr lang="en-US" sz="14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Considers demand, coverage, travel time, fleet availability, and cost.</a:t>
            </a:r>
            <a:endParaRPr lang="en-US" sz="1400" dirty="0"/>
          </a:p>
        </p:txBody>
      </p:sp>
      <p:sp>
        <p:nvSpPr>
          <p:cNvPr id="9" name="card207"/>
          <p:cNvSpPr/>
          <p:nvPr/>
        </p:nvSpPr>
        <p:spPr>
          <a:xfrm>
            <a:off x="6172200" y="3794760"/>
            <a:ext cx="54406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xt208"/>
          <p:cNvSpPr txBox="1"/>
          <p:nvPr/>
        </p:nvSpPr>
        <p:spPr>
          <a:xfrm>
            <a:off x="6263640" y="3840480"/>
            <a:ext cx="525780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Better utilization</a:t>
            </a:r>
            <a:endParaRPr lang="en-US" sz="14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Supports better use of limited transport resources.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Future Scope</a:t>
            </a:r>
            <a:endParaRPr lang="en-US" sz="2800" dirty="0"/>
          </a:p>
        </p:txBody>
      </p:sp>
      <p:sp>
        <p:nvSpPr>
          <p:cNvPr id="3" name="card209"/>
          <p:cNvSpPr/>
          <p:nvPr/>
        </p:nvSpPr>
        <p:spPr>
          <a:xfrm>
            <a:off x="548640" y="1463040"/>
            <a:ext cx="2103120" cy="4206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xt210"/>
          <p:cNvSpPr txBox="1"/>
          <p:nvPr/>
        </p:nvSpPr>
        <p:spPr>
          <a:xfrm>
            <a:off x="640080" y="1508760"/>
            <a:ext cx="192024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Real-time data</a:t>
            </a:r>
            <a:endParaRPr lang="en-US" sz="14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Integrate GPS and traffic data for dynamic route planning.</a:t>
            </a:r>
            <a:endParaRPr lang="en-US" sz="1400" dirty="0"/>
          </a:p>
        </p:txBody>
      </p:sp>
      <p:sp>
        <p:nvSpPr>
          <p:cNvPr id="5" name="num211"/>
          <p:cNvSpPr/>
          <p:nvPr/>
        </p:nvSpPr>
        <p:spPr>
          <a:xfrm>
            <a:off x="1417320" y="5029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t211"/>
          <p:cNvSpPr txBox="1"/>
          <p:nvPr/>
        </p:nvSpPr>
        <p:spPr>
          <a:xfrm>
            <a:off x="141732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card212"/>
          <p:cNvSpPr/>
          <p:nvPr/>
        </p:nvSpPr>
        <p:spPr>
          <a:xfrm>
            <a:off x="2788920" y="1463040"/>
            <a:ext cx="2103120" cy="4206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xt213"/>
          <p:cNvSpPr txBox="1"/>
          <p:nvPr/>
        </p:nvSpPr>
        <p:spPr>
          <a:xfrm>
            <a:off x="2880360" y="1508760"/>
            <a:ext cx="192024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Live demand</a:t>
            </a:r>
            <a:endParaRPr lang="en-US" sz="14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Update passenger demand in real time to adjust frequency.</a:t>
            </a:r>
            <a:endParaRPr lang="en-US" sz="1400" dirty="0"/>
          </a:p>
        </p:txBody>
      </p:sp>
      <p:sp>
        <p:nvSpPr>
          <p:cNvPr id="9" name="num214"/>
          <p:cNvSpPr/>
          <p:nvPr/>
        </p:nvSpPr>
        <p:spPr>
          <a:xfrm>
            <a:off x="3657600" y="5029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t214"/>
          <p:cNvSpPr txBox="1"/>
          <p:nvPr/>
        </p:nvSpPr>
        <p:spPr>
          <a:xfrm>
            <a:off x="365760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card215"/>
          <p:cNvSpPr/>
          <p:nvPr/>
        </p:nvSpPr>
        <p:spPr>
          <a:xfrm>
            <a:off x="5029200" y="1463040"/>
            <a:ext cx="2103120" cy="4206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xt216"/>
          <p:cNvSpPr txBox="1"/>
          <p:nvPr/>
        </p:nvSpPr>
        <p:spPr>
          <a:xfrm>
            <a:off x="5120640" y="1508760"/>
            <a:ext cx="192024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AI / ML</a:t>
            </a:r>
            <a:endParaRPr lang="en-US" sz="14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Predict future passenger demand.</a:t>
            </a:r>
            <a:endParaRPr lang="en-US" sz="1400" dirty="0"/>
          </a:p>
        </p:txBody>
      </p:sp>
      <p:sp>
        <p:nvSpPr>
          <p:cNvPr id="13" name="num217"/>
          <p:cNvSpPr/>
          <p:nvPr/>
        </p:nvSpPr>
        <p:spPr>
          <a:xfrm>
            <a:off x="5897880" y="5029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t217"/>
          <p:cNvSpPr txBox="1"/>
          <p:nvPr/>
        </p:nvSpPr>
        <p:spPr>
          <a:xfrm>
            <a:off x="589788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card218"/>
          <p:cNvSpPr/>
          <p:nvPr/>
        </p:nvSpPr>
        <p:spPr>
          <a:xfrm>
            <a:off x="7269480" y="1463040"/>
            <a:ext cx="2103120" cy="4206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xt219"/>
          <p:cNvSpPr txBox="1"/>
          <p:nvPr/>
        </p:nvSpPr>
        <p:spPr>
          <a:xfrm>
            <a:off x="7360920" y="1508760"/>
            <a:ext cx="192024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Optimization</a:t>
            </a:r>
            <a:endParaRPr lang="en-US" sz="14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Advanced techniques to cut travel time and cost.</a:t>
            </a:r>
            <a:endParaRPr lang="en-US" sz="1400" dirty="0"/>
          </a:p>
        </p:txBody>
      </p:sp>
      <p:sp>
        <p:nvSpPr>
          <p:cNvPr id="17" name="num220"/>
          <p:cNvSpPr/>
          <p:nvPr/>
        </p:nvSpPr>
        <p:spPr>
          <a:xfrm>
            <a:off x="8138160" y="5029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t220"/>
          <p:cNvSpPr txBox="1"/>
          <p:nvPr/>
        </p:nvSpPr>
        <p:spPr>
          <a:xfrm>
            <a:off x="813816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card221"/>
          <p:cNvSpPr/>
          <p:nvPr/>
        </p:nvSpPr>
        <p:spPr>
          <a:xfrm>
            <a:off x="9509760" y="1463040"/>
            <a:ext cx="2103120" cy="4206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xt222"/>
          <p:cNvSpPr txBox="1"/>
          <p:nvPr/>
        </p:nvSpPr>
        <p:spPr>
          <a:xfrm>
            <a:off x="9601200" y="1508760"/>
            <a:ext cx="192024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Multi-modal</a:t>
            </a:r>
            <a:endParaRPr lang="en-US" sz="14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Support buses, trains, and metro services.</a:t>
            </a:r>
            <a:endParaRPr lang="en-US" sz="1400" dirty="0"/>
          </a:p>
        </p:txBody>
      </p:sp>
      <p:sp>
        <p:nvSpPr>
          <p:cNvPr id="21" name="num223"/>
          <p:cNvSpPr/>
          <p:nvPr/>
        </p:nvSpPr>
        <p:spPr>
          <a:xfrm>
            <a:off x="10378440" y="5029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t223"/>
          <p:cNvSpPr txBox="1"/>
          <p:nvPr/>
        </p:nvSpPr>
        <p:spPr>
          <a:xfrm>
            <a:off x="1037844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References</a:t>
            </a:r>
            <a:endParaRPr lang="en-US" sz="2800" dirty="0"/>
          </a:p>
        </p:txBody>
      </p:sp>
      <p:sp>
        <p:nvSpPr>
          <p:cNvPr id="3" name="num224"/>
          <p:cNvSpPr/>
          <p:nvPr/>
        </p:nvSpPr>
        <p:spPr>
          <a:xfrm>
            <a:off x="548640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umt224"/>
          <p:cNvSpPr txBox="1"/>
          <p:nvPr/>
        </p:nvSpPr>
        <p:spPr>
          <a:xfrm>
            <a:off x="5486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xt225"/>
          <p:cNvSpPr txBox="1"/>
          <p:nvPr/>
        </p:nvSpPr>
        <p:spPr>
          <a:xfrm>
            <a:off x="1143000" y="1280160"/>
            <a:ext cx="105156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V. Guihaire and J.-K. Hao, “Transit network design and scheduling: A global review,” Transportation Research Part A, vol. 42, no. 10, pp. 1251–1273, 2008.</a:t>
            </a:r>
            <a:endParaRPr lang="en-US" sz="1600" dirty="0"/>
          </a:p>
        </p:txBody>
      </p:sp>
      <p:sp>
        <p:nvSpPr>
          <p:cNvPr id="6" name="num226"/>
          <p:cNvSpPr/>
          <p:nvPr/>
        </p:nvSpPr>
        <p:spPr>
          <a:xfrm>
            <a:off x="548640" y="21945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umt226"/>
          <p:cNvSpPr txBox="1"/>
          <p:nvPr/>
        </p:nvSpPr>
        <p:spPr>
          <a:xfrm>
            <a:off x="54864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xt227"/>
          <p:cNvSpPr txBox="1"/>
          <p:nvPr/>
        </p:nvSpPr>
        <p:spPr>
          <a:xfrm>
            <a:off x="1143000" y="2103120"/>
            <a:ext cx="105156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A. Schöbel, “Line planning in public transportation: Models and methods,” OR Spectrum, vol. 34, no. 3, pp. 491–510, 2012.</a:t>
            </a:r>
            <a:endParaRPr lang="en-US" sz="1600" dirty="0"/>
          </a:p>
        </p:txBody>
      </p:sp>
      <p:sp>
        <p:nvSpPr>
          <p:cNvPr id="9" name="num228"/>
          <p:cNvSpPr/>
          <p:nvPr/>
        </p:nvSpPr>
        <p:spPr>
          <a:xfrm>
            <a:off x="548640" y="3017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t228"/>
          <p:cNvSpPr txBox="1"/>
          <p:nvPr/>
        </p:nvSpPr>
        <p:spPr>
          <a:xfrm>
            <a:off x="54864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xt229"/>
          <p:cNvSpPr txBox="1"/>
          <p:nvPr/>
        </p:nvSpPr>
        <p:spPr>
          <a:xfrm>
            <a:off x="1143000" y="2926080"/>
            <a:ext cx="105156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J. López-Ramos, “Integrating network design and frequency setting in public transportation networks: A survey,” SORT, vol. 38, no. 2, pp. 181–214, 2014.</a:t>
            </a:r>
            <a:endParaRPr lang="en-US" sz="1600" dirty="0"/>
          </a:p>
        </p:txBody>
      </p:sp>
      <p:sp>
        <p:nvSpPr>
          <p:cNvPr id="12" name="num230"/>
          <p:cNvSpPr/>
          <p:nvPr/>
        </p:nvSpPr>
        <p:spPr>
          <a:xfrm>
            <a:off x="548640" y="3840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umt230"/>
          <p:cNvSpPr txBox="1"/>
          <p:nvPr/>
        </p:nvSpPr>
        <p:spPr>
          <a:xfrm>
            <a:off x="54864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xt231"/>
          <p:cNvSpPr txBox="1"/>
          <p:nvPr/>
        </p:nvSpPr>
        <p:spPr>
          <a:xfrm>
            <a:off x="1143000" y="3749040"/>
            <a:ext cx="105156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J. Durán-Micco and P. Vansteenwegen, “A survey on the transit network design and frequency setting problem,” Public Transport, vol. 14, pp. 155–190, 2022.</a:t>
            </a:r>
            <a:endParaRPr lang="en-US" sz="1600" dirty="0"/>
          </a:p>
        </p:txBody>
      </p:sp>
      <p:sp>
        <p:nvSpPr>
          <p:cNvPr id="15" name="num232"/>
          <p:cNvSpPr/>
          <p:nvPr/>
        </p:nvSpPr>
        <p:spPr>
          <a:xfrm>
            <a:off x="548640" y="46634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t232"/>
          <p:cNvSpPr txBox="1"/>
          <p:nvPr/>
        </p:nvSpPr>
        <p:spPr>
          <a:xfrm>
            <a:off x="548640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xt233"/>
          <p:cNvSpPr txBox="1"/>
          <p:nvPr/>
        </p:nvSpPr>
        <p:spPr>
          <a:xfrm>
            <a:off x="1143000" y="4572000"/>
            <a:ext cx="105156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E. W. Dijkstra, “A note on two problems in connexion with graphs,” Numerische Mathematik, vol. 1, pp. 269–271, 1959.</a:t>
            </a:r>
            <a:endParaRPr lang="en-US" sz="1600" dirty="0"/>
          </a:p>
        </p:txBody>
      </p:sp>
      <p:sp>
        <p:nvSpPr>
          <p:cNvPr id="18" name="num234"/>
          <p:cNvSpPr/>
          <p:nvPr/>
        </p:nvSpPr>
        <p:spPr>
          <a:xfrm>
            <a:off x="548640" y="54864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numt234"/>
          <p:cNvSpPr txBox="1"/>
          <p:nvPr/>
        </p:nvSpPr>
        <p:spPr>
          <a:xfrm>
            <a:off x="548640" y="5486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xt235"/>
          <p:cNvSpPr txBox="1"/>
          <p:nvPr/>
        </p:nvSpPr>
        <p:spPr>
          <a:xfrm>
            <a:off x="114300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T. H. Cormen et al., Introduction to Algorithms, 4th ed., MIT Press, 2022.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/>
          <p:nvPr/>
        </p:nvSpPr>
        <p:spPr>
          <a:xfrm>
            <a:off x="3813048" y="2468880"/>
            <a:ext cx="457200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hankst"/>
          <p:cNvSpPr txBox="1"/>
          <p:nvPr/>
        </p:nvSpPr>
        <p:spPr>
          <a:xfrm>
            <a:off x="3813048" y="24688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xt236"/>
          <p:cNvSpPr txBox="1"/>
          <p:nvPr/>
        </p:nvSpPr>
        <p:spPr>
          <a:xfrm>
            <a:off x="1984248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Questions?  ·  Public-Transit Planner  ·  Team 23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LH Transit">
  <a:themeElements>
    <a:clrScheme name="KLH Transit">
      <a:dk1>
        <a:srgbClr val="222222"/>
      </a:dk1>
      <a:lt1>
        <a:srgbClr val="FFFFFF"/>
      </a:lt1>
      <a:dk2>
        <a:srgbClr val="7A0000"/>
      </a:dk2>
      <a:lt2>
        <a:srgbClr val="FBEDED"/>
      </a:lt2>
      <a:accent1>
        <a:srgbClr val="C00000"/>
      </a:accent1>
      <a:accent2>
        <a:srgbClr val="404040"/>
      </a:accent2>
      <a:accent3>
        <a:srgbClr val="F2B8B8"/>
      </a:accent3>
      <a:accent4>
        <a:srgbClr val="666666"/>
      </a:accent4>
      <a:accent5>
        <a:srgbClr val="D9822B"/>
      </a:accent5>
      <a:accent6>
        <a:srgbClr val="2E7D6B"/>
      </a:accent6>
      <a:hlink>
        <a:srgbClr val="C00000"/>
      </a:hlink>
      <a:folHlink>
        <a:srgbClr val="7A0000"/>
      </a:folHlink>
    </a:clrScheme>
    <a:fontScheme name="KLH Transi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Public-Transit Planner</dc:title>
  <dc:subject>PptxGenJS Presentation</dc:subject>
  <dc:creator>Team 23</dc:creator>
  <cp:lastModifiedBy>Team 23</cp:lastModifiedBy>
  <cp:revision>1</cp:revision>
  <dcterms:created xsi:type="dcterms:W3CDTF">2026-10-12T05:19:49Z</dcterms:created>
  <dcterms:modified xsi:type="dcterms:W3CDTF">2026-10-12T05:19:49Z</dcterms:modified>
</cp:coreProperties>
</file>